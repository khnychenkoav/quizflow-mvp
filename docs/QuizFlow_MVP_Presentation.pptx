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c064f9b300474b" /><Relationship Type="http://schemas.openxmlformats.org/officeDocument/2006/relationships/extended-properties" Target="/docProps/app.xml" Id="Re72cebf8cb3a407d" /><Relationship Type="http://schemas.openxmlformats.org/officeDocument/2006/relationships/officeDocument" Target="/ppt/presentation.xml" Id="R690c8d0ddc3a46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d6f0b9d9fb4c91"/>
  </p:sldMasterIdLst>
  <p:notesMasterIdLst>
    <p:notesMasterId xmlns:r="http://schemas.openxmlformats.org/officeDocument/2006/relationships" r:id="Ra8136c682c114afb"/>
  </p:notesMasterIdLst>
  <p:sldIdLst>
    <p:sldId xmlns:r="http://schemas.openxmlformats.org/officeDocument/2006/relationships" id="256" r:id="Ra2c4e088276a4713"/>
    <p:sldId xmlns:r="http://schemas.openxmlformats.org/officeDocument/2006/relationships" id="257" r:id="R5e761d9310fb4c7b"/>
    <p:sldId xmlns:r="http://schemas.openxmlformats.org/officeDocument/2006/relationships" id="258" r:id="Rea85ca23adf84564"/>
    <p:sldId xmlns:r="http://schemas.openxmlformats.org/officeDocument/2006/relationships" id="259" r:id="Rb1a2ba0192b24f57"/>
    <p:sldId xmlns:r="http://schemas.openxmlformats.org/officeDocument/2006/relationships" id="260" r:id="R0e5d516989654d22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d6f0b9d9fb4c91" /><Relationship Type="http://schemas.openxmlformats.org/officeDocument/2006/relationships/theme" Target="/ppt/theme/theme1.xml" Id="Radebb4a3a2894d00" /><Relationship Type="http://schemas.openxmlformats.org/officeDocument/2006/relationships/notesMaster" Target="/ppt/notesMasters/notesMaster1.xml" Id="Ra8136c682c114afb" /><Relationship Type="http://schemas.openxmlformats.org/officeDocument/2006/relationships/presProps" Target="/ppt/presProps.xml" Id="R8d9600f3f50943ed" /><Relationship Type="http://schemas.openxmlformats.org/officeDocument/2006/relationships/viewProps" Target="/ppt/viewProps.xml" Id="R976ee239634e40e9" /><Relationship Type="http://schemas.openxmlformats.org/officeDocument/2006/relationships/tableStyles" Target="/ppt/tableStyles.xml" Id="R4a55424bbe5e4e67" /><Relationship Type="http://schemas.openxmlformats.org/officeDocument/2006/relationships/slide" Target="/ppt/slides/slide1.xml" Id="Ra2c4e088276a4713" /><Relationship Type="http://schemas.openxmlformats.org/officeDocument/2006/relationships/slide" Target="/ppt/slides/slide2.xml" Id="R5e761d9310fb4c7b" /><Relationship Type="http://schemas.openxmlformats.org/officeDocument/2006/relationships/slide" Target="/ppt/slides/slide3.xml" Id="Rea85ca23adf84564" /><Relationship Type="http://schemas.openxmlformats.org/officeDocument/2006/relationships/slide" Target="/ppt/slides/slide4.xml" Id="Rb1a2ba0192b24f57" /><Relationship Type="http://schemas.openxmlformats.org/officeDocument/2006/relationships/slide" Target="/ppt/slides/slide5.xml" Id="R0e5d516989654d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c90b3dd37b546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b7426b193a4e8f" /><Relationship Type="http://schemas.openxmlformats.org/officeDocument/2006/relationships/notesMaster" Target="/ppt/notesMasters/notesMaster1.xml" Id="R9fc0415a4c9942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24602bb6bc49ec" /><Relationship Type="http://schemas.openxmlformats.org/officeDocument/2006/relationships/notesMaster" Target="/ppt/notesMasters/notesMaster1.xml" Id="R5e88498240c943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22e60f64b04c83" /><Relationship Type="http://schemas.openxmlformats.org/officeDocument/2006/relationships/notesMaster" Target="/ppt/notesMasters/notesMaster1.xml" Id="R41ba47384a7e4d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a8f36b5bb049e2" /><Relationship Type="http://schemas.openxmlformats.org/officeDocument/2006/relationships/notesMaster" Target="/ppt/notesMasters/notesMaster1.xml" Id="Rc76124b2e74344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f867cbfe634b56" /><Relationship Type="http://schemas.openxmlformats.org/officeDocument/2006/relationships/notesMaster" Target="/ppt/notesMasters/notesMaster1.xml" Id="R021dc1acb66342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7a99227872449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f14a3114c9940f5" /><Relationship Type="http://schemas.openxmlformats.org/officeDocument/2006/relationships/slideLayout" Target="/ppt/slideLayouts/slideLayout2.xml" Id="R9c02bedbef5544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02bedbef5544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9a27bf957e425c" /><Relationship Type="http://schemas.openxmlformats.org/officeDocument/2006/relationships/notesSlide" Target="/ppt/notesSlides/notesSlide1.xml" Id="R5eaa1623347445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cce2b96a9948ae" /><Relationship Type="http://schemas.openxmlformats.org/officeDocument/2006/relationships/notesSlide" Target="/ppt/notesSlides/notesSlide2.xml" Id="Redf3c26fd1df49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b534b75391486c" /><Relationship Type="http://schemas.openxmlformats.org/officeDocument/2006/relationships/notesSlide" Target="/ppt/notesSlides/notesSlide3.xml" Id="R9a3991a9d8be47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c04a89796b4cf9" /><Relationship Type="http://schemas.openxmlformats.org/officeDocument/2006/relationships/notesSlide" Target="/ppt/notesSlides/notesSlide4.xml" Id="R6301a30e81354e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091a02cb6f41df" /><Relationship Type="http://schemas.openxmlformats.org/officeDocument/2006/relationships/notesSlide" Target="/ppt/notesSlides/notesSlide5.xml" Id="R7a1e5da0d59746f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621B19-0E13-4988-BA59-53B15306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E6B7D-89C7-4BF0-A855-8A5C9E69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1790"/>
            <a:ext cx="18478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DEA3">
              <a:alpha val="13333"/>
            </a:srgbClr>
          </a:solidFill>
          <a:ln xmlns:a="http://schemas.openxmlformats.org/drawingml/2006/main" w="9525">
            <a:solidFill>
              <a:srgbClr val="4EDEA3">
                <a:alpha val="4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895C3-77EF-4BC4-9D93-B0392C97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1581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EDEA3"/>
                </a:solidFill>
              </a:defRPr>
            </a:pPr>
            <a:r>
              <a:rPr sz="1275" b="1">
                <a:solidFill>
                  <a:srgbClr val="4EDEA3"/>
                </a:solidFill>
              </a:rPr>
              <a:t>QuizFlow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99EE3-8E05-4547-A829-FFBE5A73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704850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DAE2FD"/>
                </a:solidFill>
              </a:defRPr>
            </a:pPr>
            <a:r>
              <a:rPr sz="5700" b="1">
                <a:solidFill>
                  <a:srgbClr val="DAE2FD"/>
                </a:solidFill>
              </a:rPr>
              <a:t>Realtime quizzes with a game economy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00FAA-B707-4352-A62D-5B4E1D98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70294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CBC3D7"/>
                </a:solidFill>
              </a:defRPr>
            </a:pPr>
            <a:r>
              <a:rPr sz="2175">
                <a:solidFill>
                  <a:srgbClr val="CBC3D7"/>
                </a:solidFill>
              </a:rPr>
              <a:t>A dark, Figma-led web prototype for creating live quiz rooms, answering under time pressure, tracking leaders, and spending victory points on visible player flair.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D4CB8-9B0A-4E5D-8361-5004AD50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95160"/>
            <a:ext cx="1047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BCFF">
              <a:alpha val="13333"/>
            </a:srgbClr>
          </a:solidFill>
          <a:ln xmlns:a="http://schemas.openxmlformats.org/drawingml/2006/main" w="9525">
            <a:solidFill>
              <a:srgbClr val="D0BCFF">
                <a:alpha val="4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5359A-A66C-481D-AE13-B4A8C9E3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67550"/>
            <a:ext cx="781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0BCFF"/>
                </a:solidFill>
              </a:defRPr>
            </a:pPr>
            <a:r>
              <a:rPr sz="1275" b="1">
                <a:solidFill>
                  <a:srgbClr val="D0BCFF"/>
                </a:solidFill>
              </a:rPr>
              <a:t>React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47BA0-A9D4-4F27-AEA3-D2CA54DF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995160"/>
            <a:ext cx="12287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BCFF">
              <a:alpha val="13333"/>
            </a:srgbClr>
          </a:solidFill>
          <a:ln xmlns:a="http://schemas.openxmlformats.org/drawingml/2006/main" w="9525">
            <a:solidFill>
              <a:srgbClr val="D0BCFF">
                <a:alpha val="4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23719-816C-4432-A003-43F12526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06755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0BCFF"/>
                </a:solidFill>
              </a:defRPr>
            </a:pPr>
            <a:r>
              <a:rPr sz="1275" b="1">
                <a:solidFill>
                  <a:srgbClr val="D0BCFF"/>
                </a:solidFill>
              </a:rPr>
              <a:t>Express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015EE-41CF-4F5B-AA87-45D0E863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6995160"/>
            <a:ext cx="147637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BCFF">
              <a:alpha val="13333"/>
            </a:srgbClr>
          </a:solidFill>
          <a:ln xmlns:a="http://schemas.openxmlformats.org/drawingml/2006/main" w="9525">
            <a:solidFill>
              <a:srgbClr val="D0BCFF">
                <a:alpha val="4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C2ED9-4D54-4AC2-A6E8-1AA086F7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7067550"/>
            <a:ext cx="121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0BCFF"/>
                </a:solidFill>
              </a:defRPr>
            </a:pPr>
            <a:r>
              <a:rPr sz="1275" b="1">
                <a:solidFill>
                  <a:srgbClr val="D0BCFF"/>
                </a:solidFill>
              </a:rPr>
              <a:t>Socket.IO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9A1F8-25B1-435F-B4C6-22C90832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995160"/>
            <a:ext cx="11049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BCFF">
              <a:alpha val="13333"/>
            </a:srgbClr>
          </a:solidFill>
          <a:ln xmlns:a="http://schemas.openxmlformats.org/drawingml/2006/main" w="9525">
            <a:solidFill>
              <a:srgbClr val="D0BCFF">
                <a:alpha val="4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52BBE-03D0-43D6-885A-EB20C4F5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067550"/>
            <a:ext cx="838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0BCFF"/>
                </a:solidFill>
              </a:defRPr>
            </a:pPr>
            <a:r>
              <a:rPr sz="1275" b="1">
                <a:solidFill>
                  <a:srgbClr val="D0BCFF"/>
                </a:solidFill>
              </a:rPr>
              <a:t>SQLite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66CD2A-2EF5-48B9-8BAD-A0346E2F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680" y="609600"/>
            <a:ext cx="8961120" cy="6381750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171F33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892A3-491D-40AD-9A40-649D65C6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14400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AE2FD"/>
                </a:solidFill>
              </a:defRPr>
            </a:pPr>
            <a:r>
              <a:rPr sz="2025" b="1">
                <a:solidFill>
                  <a:srgbClr val="DAE2FD"/>
                </a:solidFill>
              </a:rPr>
              <a:t>QuizFlow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3BF385-4EF5-4F30-A0D2-B09D94F7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480" y="857250"/>
            <a:ext cx="12287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9CEFF">
              <a:alpha val="13333"/>
            </a:srgbClr>
          </a:solidFill>
          <a:ln xmlns:a="http://schemas.openxmlformats.org/drawingml/2006/main" w="9525">
            <a:solidFill>
              <a:srgbClr val="89CEFF">
                <a:alpha val="4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FFE87B-65A6-4821-98AB-51F0D7E5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93345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9CEFF"/>
                </a:solidFill>
              </a:defRPr>
            </a:pPr>
            <a:r>
              <a:rPr sz="1275" b="1">
                <a:solidFill>
                  <a:srgbClr val="89CEFF"/>
                </a:solidFill>
              </a:rPr>
              <a:t>Explore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E48886-D26E-4A40-9289-EED5BE99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9555" y="857250"/>
            <a:ext cx="12287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BCFF">
              <a:alpha val="13333"/>
            </a:srgbClr>
          </a:solidFill>
          <a:ln xmlns:a="http://schemas.openxmlformats.org/drawingml/2006/main" w="9525">
            <a:solidFill>
              <a:srgbClr val="D0BCFF">
                <a:alpha val="4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6EBDCA-EE7C-4FE9-A6FC-1CF1CACE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93345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0BCFF"/>
                </a:solidFill>
              </a:defRPr>
            </a:pPr>
            <a:r>
              <a:rPr sz="1275" b="1">
                <a:solidFill>
                  <a:srgbClr val="D0BCFF"/>
                </a:solidFill>
              </a:rPr>
              <a:t>Library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E54ACD-2C99-4E4B-91E6-7B005BB6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1630" y="857250"/>
            <a:ext cx="12287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BCFF">
              <a:alpha val="13333"/>
            </a:srgbClr>
          </a:solidFill>
          <a:ln xmlns:a="http://schemas.openxmlformats.org/drawingml/2006/main" w="9525">
            <a:solidFill>
              <a:srgbClr val="D0BCFF">
                <a:alpha val="4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A10250-3B64-499F-A40C-33988A50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93345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0BCFF"/>
                </a:solidFill>
              </a:defRPr>
            </a:pPr>
            <a:r>
              <a:rPr sz="1275" b="1">
                <a:solidFill>
                  <a:srgbClr val="D0BCFF"/>
                </a:solidFill>
              </a:rPr>
              <a:t>Reports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8BC4B3-D81F-49CF-8D3A-F4A163E9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3705" y="857250"/>
            <a:ext cx="17240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DEA3">
              <a:alpha val="13333"/>
            </a:srgbClr>
          </a:solidFill>
          <a:ln xmlns:a="http://schemas.openxmlformats.org/drawingml/2006/main" w="9525">
            <a:solidFill>
              <a:srgbClr val="4EDEA3">
                <a:alpha val="4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3DD7CA-16D4-449B-94EB-68E64A60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933450"/>
            <a:ext cx="1466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EDEA3"/>
                </a:solidFill>
              </a:defRPr>
            </a:pPr>
            <a:r>
              <a:rPr sz="1275" b="1">
                <a:solidFill>
                  <a:srgbClr val="4EDEA3"/>
                </a:solidFill>
              </a:rPr>
              <a:t>Marketplace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35EC9C-B176-4973-BEFA-38926869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130" y="1504950"/>
            <a:ext cx="5068062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A1021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5EBB1A-1493-40D9-857E-F1E069FA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4648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EDEA3"/>
                </a:solidFill>
              </a:defRPr>
            </a:pPr>
            <a:r>
              <a:rPr sz="1350" b="1">
                <a:solidFill>
                  <a:srgbClr val="4EDEA3"/>
                </a:solidFill>
              </a:rPr>
              <a:t>Active room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DDFBF0-9E8F-489C-A711-D640D199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47900"/>
            <a:ext cx="4648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DAE2FD"/>
                </a:solidFill>
              </a:defRPr>
            </a:pPr>
            <a:r>
              <a:rPr sz="3300" b="1">
                <a:solidFill>
                  <a:srgbClr val="DAE2FD"/>
                </a:solidFill>
              </a:rPr>
              <a:t>ROOM 4821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94DA00-ACC8-49C6-9B9D-5A4928AD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4648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BC3D7"/>
                </a:solidFill>
              </a:defRPr>
            </a:pPr>
            <a:r>
              <a:rPr sz="1500">
                <a:solidFill>
                  <a:srgbClr val="CBC3D7"/>
                </a:solidFill>
              </a:rPr>
              <a:t>Question 4 of 8 · 00:18 left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036537-0AC5-4B6A-B225-F1437887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130" y="3676650"/>
            <a:ext cx="5068062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1192E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3DD917-0BDC-4746-9626-DB0DBFBA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4610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AE2FD"/>
                </a:solidFill>
              </a:defRPr>
            </a:pPr>
            <a:r>
              <a:rPr sz="2550" b="1">
                <a:solidFill>
                  <a:srgbClr val="DAE2FD"/>
                </a:solidFill>
              </a:rPr>
              <a:t>Which database powers the MVP?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86996C-6D3E-4D1A-8AF9-61404B39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8730" y="4465320"/>
            <a:ext cx="2238756" cy="996315"/>
          </a:xfrm>
          <a:prstGeom xmlns:a="http://schemas.openxmlformats.org/drawingml/2006/main" prst="roundRect">
            <a:avLst>
              <a:gd name="adj" fmla="val 15296"/>
            </a:avLst>
          </a:prstGeom>
          <a:solidFill xmlns:a="http://schemas.openxmlformats.org/drawingml/2006/main">
            <a:srgbClr val="4EDEA3">
              <a:alpha val="14118"/>
            </a:srgbClr>
          </a:solidFill>
          <a:ln xmlns:a="http://schemas.openxmlformats.org/drawingml/2006/main" w="9525">
            <a:solidFill>
              <a:srgbClr val="4EDEA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2234CA-624E-4E15-A9FF-22873724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2915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AE2FD"/>
                </a:solidFill>
              </a:defRPr>
            </a:pPr>
            <a:r>
              <a:rPr sz="1650">
                <a:solidFill>
                  <a:srgbClr val="DAE2FD"/>
                </a:solidFill>
              </a:rPr>
              <a:t>SQLite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2DC0E1-90EA-4B16-B79B-88E6E1A9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0836" y="4465320"/>
            <a:ext cx="2238756" cy="996315"/>
          </a:xfrm>
          <a:prstGeom xmlns:a="http://schemas.openxmlformats.org/drawingml/2006/main" prst="roundRect">
            <a:avLst>
              <a:gd name="adj" fmla="val 15296"/>
            </a:avLst>
          </a:prstGeom>
          <a:solidFill xmlns:a="http://schemas.openxmlformats.org/drawingml/2006/main">
            <a:srgbClr val="222A3D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FA1570-67E1-457E-9F40-415D1A11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62915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AE2FD"/>
                </a:solidFill>
              </a:defRPr>
            </a:pPr>
            <a:r>
              <a:rPr sz="1650">
                <a:solidFill>
                  <a:srgbClr val="DAE2FD"/>
                </a:solidFill>
              </a:rPr>
              <a:t>MongoDB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55E6AA-B968-466B-8714-4194BE7E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8730" y="5594985"/>
            <a:ext cx="2238756" cy="996315"/>
          </a:xfrm>
          <a:prstGeom xmlns:a="http://schemas.openxmlformats.org/drawingml/2006/main" prst="roundRect">
            <a:avLst>
              <a:gd name="adj" fmla="val 15296"/>
            </a:avLst>
          </a:prstGeom>
          <a:solidFill xmlns:a="http://schemas.openxmlformats.org/drawingml/2006/main">
            <a:srgbClr val="222A3D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758E6C-450E-4839-9888-A57692BF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77215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AE2FD"/>
                </a:solidFill>
              </a:defRPr>
            </a:pPr>
            <a:r>
              <a:rPr sz="1650">
                <a:solidFill>
                  <a:srgbClr val="DAE2FD"/>
                </a:solidFill>
              </a:rPr>
              <a:t>Redis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F159BB-06E3-4E34-9E39-420BA878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0836" y="5594985"/>
            <a:ext cx="2238756" cy="996315"/>
          </a:xfrm>
          <a:prstGeom xmlns:a="http://schemas.openxmlformats.org/drawingml/2006/main" prst="roundRect">
            <a:avLst>
              <a:gd name="adj" fmla="val 15296"/>
            </a:avLst>
          </a:prstGeom>
          <a:solidFill xmlns:a="http://schemas.openxmlformats.org/drawingml/2006/main">
            <a:srgbClr val="222A3D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5E6BCB-7F9E-46CC-992D-C4E06DA2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77215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AE2FD"/>
                </a:solidFill>
              </a:defRPr>
            </a:pPr>
            <a:r>
              <a:rPr sz="1650">
                <a:solidFill>
                  <a:srgbClr val="DAE2FD"/>
                </a:solidFill>
              </a:rPr>
              <a:t>Postgres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21B5B7-232D-45A0-BC9E-4C5E0CBD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9642" y="1504950"/>
            <a:ext cx="3378708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11192E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0825E1-5E95-478A-9BF6-3BA2C7B6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714500"/>
            <a:ext cx="2990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AE2FD"/>
                </a:solidFill>
              </a:defRPr>
            </a:pPr>
            <a:r>
              <a:rPr sz="2700" b="1">
                <a:solidFill>
                  <a:srgbClr val="DAE2FD"/>
                </a:solidFill>
              </a:rPr>
              <a:t>24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00B4C0-9282-4E03-8659-E24D5FF7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190750"/>
            <a:ext cx="2990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58EA0"/>
                </a:solidFill>
              </a:defRPr>
            </a:pPr>
            <a:r>
              <a:rPr sz="1350">
                <a:solidFill>
                  <a:srgbClr val="958EA0"/>
                </a:solidFill>
              </a:rPr>
              <a:t>Participants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BFAAD8-0819-43AA-A7DB-CCD04AA7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9642" y="2781300"/>
            <a:ext cx="3378708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11192E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F434BE-D32A-4B50-9EEA-D333DABC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990850"/>
            <a:ext cx="2990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AE2FD"/>
                </a:solidFill>
              </a:defRPr>
            </a:pPr>
            <a:r>
              <a:rPr sz="2700" b="1">
                <a:solidFill>
                  <a:srgbClr val="DAE2FD"/>
                </a:solidFill>
              </a:rPr>
              <a:t>71%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B54CAF-A848-4243-9972-5758D1BF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67100"/>
            <a:ext cx="2990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58EA0"/>
                </a:solidFill>
              </a:defRPr>
            </a:pPr>
            <a:r>
              <a:rPr sz="1350">
                <a:solidFill>
                  <a:srgbClr val="958EA0"/>
                </a:solidFill>
              </a:rPr>
              <a:t>Avg score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0C2587-25FD-4428-BC9F-EA13C247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9642" y="4057650"/>
            <a:ext cx="3378708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11192E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D6710B-A590-4007-AFCE-F96C7DA3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4267200"/>
            <a:ext cx="2952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AE2FD"/>
                </a:solidFill>
              </a:defRPr>
            </a:pPr>
            <a:r>
              <a:rPr sz="2175" b="1">
                <a:solidFill>
                  <a:srgbClr val="DAE2FD"/>
                </a:solidFill>
              </a:rPr>
              <a:t>Leaderboard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D985B4-065A-442E-B3EE-E91CED82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9192" y="48577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BCFF">
              <a:alpha val="14118"/>
            </a:srgbClr>
          </a:solidFill>
          <a:ln xmlns:a="http://schemas.openxmlformats.org/drawingml/2006/main" w="9525">
            <a:solidFill>
              <a:srgbClr val="D0BCFF">
                <a:alpha val="4000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FF68F8-D7B8-4439-9097-D35C77DF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485775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0BCFF"/>
                </a:solidFill>
              </a:defRPr>
            </a:pPr>
            <a:r>
              <a:rPr sz="1200">
                <a:solidFill>
                  <a:srgbClr val="D0BCFF"/>
                </a:solidFill>
              </a:rPr>
              <a:t>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195D7E-5513-4F39-8BCF-9D378836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4895850"/>
            <a:ext cx="1695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AE2FD"/>
                </a:solidFill>
              </a:defRPr>
            </a:pPr>
            <a:r>
              <a:rPr sz="1500">
                <a:solidFill>
                  <a:srgbClr val="DAE2FD"/>
                </a:solidFill>
              </a:rPr>
              <a:t>Mira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421669-7F13-43F6-BB99-7370DE27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050" y="4895850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DEA3"/>
                </a:solidFill>
              </a:defRPr>
            </a:pPr>
            <a:r>
              <a:rPr sz="1425" b="1">
                <a:solidFill>
                  <a:srgbClr val="4EDEA3"/>
                </a:solidFill>
              </a:rPr>
              <a:t>890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39070D-049D-4AE3-B0CC-CFCA0E33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9192" y="55245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BCFF">
              <a:alpha val="14118"/>
            </a:srgbClr>
          </a:solidFill>
          <a:ln xmlns:a="http://schemas.openxmlformats.org/drawingml/2006/main" w="9525">
            <a:solidFill>
              <a:srgbClr val="D0BCFF">
                <a:alpha val="40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19AD3E1-26B6-4A87-8177-5659E002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552450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0BCFF"/>
                </a:solidFill>
              </a:defRPr>
            </a:pPr>
            <a:r>
              <a:rPr sz="1200">
                <a:solidFill>
                  <a:srgbClr val="D0BCFF"/>
                </a:solidFill>
              </a:rPr>
              <a:t>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CDA3EF-3449-4A74-948A-7E392CEB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5562600"/>
            <a:ext cx="1695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AE2FD"/>
                </a:solidFill>
              </a:defRPr>
            </a:pPr>
            <a:r>
              <a:rPr sz="1500">
                <a:solidFill>
                  <a:srgbClr val="DAE2FD"/>
                </a:solidFill>
              </a:rPr>
              <a:t>Alex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72FF894-FC96-4F22-B23C-85EA4B58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050" y="5562600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DEA3"/>
                </a:solidFill>
              </a:defRPr>
            </a:pPr>
            <a:r>
              <a:rPr sz="1425" b="1">
                <a:solidFill>
                  <a:srgbClr val="4EDEA3"/>
                </a:solidFill>
              </a:rPr>
              <a:t>760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6E60CC-D5DA-43E4-BA02-4D867B54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9192" y="61912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BCFF">
              <a:alpha val="14118"/>
            </a:srgbClr>
          </a:solidFill>
          <a:ln xmlns:a="http://schemas.openxmlformats.org/drawingml/2006/main" w="9525">
            <a:solidFill>
              <a:srgbClr val="D0BCFF">
                <a:alpha val="40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C41C642-04CC-4F82-A507-0080DE1D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619125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0BCFF"/>
                </a:solidFill>
              </a:defRPr>
            </a:pPr>
            <a:r>
              <a:rPr sz="1200">
                <a:solidFill>
                  <a:srgbClr val="D0BCFF"/>
                </a:solidFill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922051-DDFF-43C8-9317-76692FEC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6229350"/>
            <a:ext cx="1695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AE2FD"/>
                </a:solidFill>
              </a:defRPr>
            </a:pPr>
            <a:r>
              <a:rPr sz="1500">
                <a:solidFill>
                  <a:srgbClr val="DAE2FD"/>
                </a:solidFill>
              </a:rPr>
              <a:t>Nika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6B5C8C9-F398-4714-BB1D-C9794F30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050" y="6229350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DEA3"/>
                </a:solidFill>
              </a:defRPr>
            </a:pPr>
            <a:r>
              <a:rPr sz="1425" b="1">
                <a:solidFill>
                  <a:srgbClr val="4EDEA3"/>
                </a:solidFill>
              </a:rPr>
              <a:t>620</a:t>
            </a:r>
          </a:p>
        </p:txBody>
      </p:sp>
    </p:spTree>
    <p:extLst>
      <p:ext uri="{BB962C8B-B14F-4D97-AF65-F5344CB8AC3E}">
        <p14:creationId xmlns:p14="http://schemas.microsoft.com/office/powerpoint/2010/main" val="13189137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D20378-33C1-4CB4-BB9F-89F2907A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60B72-48A3-45B8-8BB4-63DE4C9A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97167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9CEFF">
              <a:alpha val="13333"/>
            </a:srgbClr>
          </a:solidFill>
          <a:ln xmlns:a="http://schemas.openxmlformats.org/drawingml/2006/main" w="9525">
            <a:solidFill>
              <a:srgbClr val="89CEFF">
                <a:alpha val="4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760BA-C1EB-445C-82A1-91ED78B2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858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9CEFF"/>
                </a:solidFill>
              </a:defRPr>
            </a:pPr>
            <a:r>
              <a:rPr sz="1275" b="1">
                <a:solidFill>
                  <a:srgbClr val="89CEFF"/>
                </a:solidFill>
              </a:rPr>
              <a:t>Product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52CD1-EDF5-422F-8CA9-8A7D3DF4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16611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DAE2FD"/>
                </a:solidFill>
              </a:defRPr>
            </a:pPr>
            <a:r>
              <a:rPr sz="4800" b="1">
                <a:solidFill>
                  <a:srgbClr val="DAE2FD"/>
                </a:solidFill>
              </a:rPr>
              <a:t>One MVP, two modes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F9AB3-E3F2-4D43-A93A-AB93CB47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10782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CBC3D7"/>
                </a:solidFill>
              </a:defRPr>
            </a:pPr>
            <a:r>
              <a:rPr sz="2025">
                <a:solidFill>
                  <a:srgbClr val="CBC3D7"/>
                </a:solidFill>
              </a:rPr>
              <a:t>The public platform is for discovery, reports, marketplace, and joining rooms. Pro Mode is for organizers running the quiz operation.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DDEA2-73E2-4E03-A753-0AE5593A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8940"/>
            <a:ext cx="5359400" cy="6728460"/>
          </a:xfrm>
          <a:prstGeom xmlns:a="http://schemas.openxmlformats.org/drawingml/2006/main" prst="roundRect">
            <a:avLst>
              <a:gd name="adj" fmla="val 4265"/>
            </a:avLst>
          </a:prstGeom>
          <a:solidFill xmlns:a="http://schemas.openxmlformats.org/drawingml/2006/main">
            <a:srgbClr val="171F33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601DB-A9E1-4BC1-96E3-12EF3746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4781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AE2FD"/>
                </a:solidFill>
              </a:defRPr>
            </a:pPr>
            <a:r>
              <a:rPr sz="2850" b="1">
                <a:solidFill>
                  <a:srgbClr val="DAE2FD"/>
                </a:solidFill>
              </a:rPr>
              <a:t>Public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194C2-34D0-4B08-B00B-2D901B5B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86200"/>
            <a:ext cx="4781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BC3D7"/>
                </a:solidFill>
              </a:defRPr>
            </a:pPr>
            <a:r>
              <a:rPr sz="1800">
                <a:solidFill>
                  <a:srgbClr val="CBC3D7"/>
                </a:solidFill>
              </a:rPr>
              <a:t>Explore public quizzes, open reports, buy flair, and join by room code.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22CF0-1D4C-4041-99D1-BEEDAA0C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29150"/>
            <a:ext cx="478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449"/>
          </a:solidFill>
          <a:ln xmlns:a="http://schemas.openxmlformats.org/drawingml/2006/main" w="0">
            <a:solidFill>
              <a:srgbClr val="2D34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88A1F-2F4C-4005-8E27-5E1F1C1D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65370"/>
            <a:ext cx="2190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BCFF">
              <a:alpha val="13333"/>
            </a:srgbClr>
          </a:solidFill>
          <a:ln xmlns:a="http://schemas.openxmlformats.org/drawingml/2006/main" w="9525">
            <a:solidFill>
              <a:srgbClr val="D0BCFF">
                <a:alpha val="4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91987-336E-42FB-AAF5-76445F8B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339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0BCFF"/>
                </a:solidFill>
              </a:defRPr>
            </a:pPr>
            <a:r>
              <a:rPr sz="1275" b="1">
                <a:solidFill>
                  <a:srgbClr val="D0BCFF"/>
                </a:solidFill>
              </a:rPr>
              <a:t>Explore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032EFB-2F2B-4DA6-8D0A-D5345633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98770"/>
            <a:ext cx="2190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BCFF">
              <a:alpha val="13333"/>
            </a:srgbClr>
          </a:solidFill>
          <a:ln xmlns:a="http://schemas.openxmlformats.org/drawingml/2006/main" w="9525">
            <a:solidFill>
              <a:srgbClr val="D0BCFF">
                <a:alpha val="4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CC618E-7341-41BB-80AA-0121A51E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673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0BCFF"/>
                </a:solidFill>
              </a:defRPr>
            </a:pPr>
            <a:r>
              <a:rPr sz="1275" b="1">
                <a:solidFill>
                  <a:srgbClr val="D0BCFF"/>
                </a:solidFill>
              </a:rPr>
              <a:t>Library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EC9E4B-6F6D-4053-AC49-CDE4AEA1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32170"/>
            <a:ext cx="2190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BCFF">
              <a:alpha val="13333"/>
            </a:srgbClr>
          </a:solidFill>
          <a:ln xmlns:a="http://schemas.openxmlformats.org/drawingml/2006/main" w="9525">
            <a:solidFill>
              <a:srgbClr val="D0BCFF">
                <a:alpha val="4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D73096-7E36-4241-B316-F55C8F49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0007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0BCFF"/>
                </a:solidFill>
              </a:defRPr>
            </a:pPr>
            <a:r>
              <a:rPr sz="1275" b="1">
                <a:solidFill>
                  <a:srgbClr val="D0BCFF"/>
                </a:solidFill>
              </a:rPr>
              <a:t>Reports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D8848-28FA-4D32-BF11-92D0BAFF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465570"/>
            <a:ext cx="2190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BCFF">
              <a:alpha val="13333"/>
            </a:srgbClr>
          </a:solidFill>
          <a:ln xmlns:a="http://schemas.openxmlformats.org/drawingml/2006/main" w="9525">
            <a:solidFill>
              <a:srgbClr val="D0BCFF">
                <a:alpha val="4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50426-06CB-4DEE-8FDE-672C5CFD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5341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0BCFF"/>
                </a:solidFill>
              </a:defRPr>
            </a:pPr>
            <a:r>
              <a:rPr sz="1275" b="1">
                <a:solidFill>
                  <a:srgbClr val="D0BCFF"/>
                </a:solidFill>
              </a:rPr>
              <a:t>Marketplace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CD5D58-660A-4180-AB2A-DE58E358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2948940"/>
            <a:ext cx="5359400" cy="6728460"/>
          </a:xfrm>
          <a:prstGeom xmlns:a="http://schemas.openxmlformats.org/drawingml/2006/main" prst="roundRect">
            <a:avLst>
              <a:gd name="adj" fmla="val 4265"/>
            </a:avLst>
          </a:prstGeom>
          <a:solidFill xmlns:a="http://schemas.openxmlformats.org/drawingml/2006/main">
            <a:srgbClr val="171F33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FC0233-2E4F-4E54-B99F-E6FF24A4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38500"/>
            <a:ext cx="4781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AE2FD"/>
                </a:solidFill>
              </a:defRPr>
            </a:pPr>
            <a:r>
              <a:rPr sz="2850" b="1">
                <a:solidFill>
                  <a:srgbClr val="DAE2FD"/>
                </a:solidFill>
              </a:rPr>
              <a:t>Organizer Pro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B1CF78-C1A9-481E-BD83-362DB751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4781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BC3D7"/>
                </a:solidFill>
              </a:defRPr>
            </a:pPr>
            <a:r>
              <a:rPr sz="1800">
                <a:solidFill>
                  <a:srgbClr val="CBC3D7"/>
                </a:solidFill>
              </a:rPr>
              <a:t>Create quizzes, configure rules, start rooms, control questions, and close the session.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E9C66-9E76-4C84-91CB-A092A79A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29150"/>
            <a:ext cx="478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449"/>
          </a:solidFill>
          <a:ln xmlns:a="http://schemas.openxmlformats.org/drawingml/2006/main" w="0">
            <a:solidFill>
              <a:srgbClr val="2D344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9629A0-4A2E-41D9-84E6-071476C6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4865370"/>
            <a:ext cx="2190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BCFF">
              <a:alpha val="13333"/>
            </a:srgbClr>
          </a:solidFill>
          <a:ln xmlns:a="http://schemas.openxmlformats.org/drawingml/2006/main" w="9525">
            <a:solidFill>
              <a:srgbClr val="D0BCFF">
                <a:alpha val="4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B8CF41-848F-42A8-8B12-FDE3E594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339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0BCFF"/>
                </a:solidFill>
              </a:defRPr>
            </a:pPr>
            <a:r>
              <a:rPr sz="1275" b="1">
                <a:solidFill>
                  <a:srgbClr val="D0BCFF"/>
                </a:solidFill>
              </a:rPr>
              <a:t>Builder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78D168-B2BB-49A4-8653-62B5004D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5398770"/>
            <a:ext cx="2190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BCFF">
              <a:alpha val="13333"/>
            </a:srgbClr>
          </a:solidFill>
          <a:ln xmlns:a="http://schemas.openxmlformats.org/drawingml/2006/main" w="9525">
            <a:solidFill>
              <a:srgbClr val="D0BCFF">
                <a:alpha val="4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46C17E-12C4-45AE-8CC7-DD3A6FE3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673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0BCFF"/>
                </a:solidFill>
              </a:defRPr>
            </a:pPr>
            <a:r>
              <a:rPr sz="1275" b="1">
                <a:solidFill>
                  <a:srgbClr val="D0BCFF"/>
                </a:solidFill>
              </a:rPr>
              <a:t>Room host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7EA067-5DAD-477B-A40E-C6AE34C9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5932170"/>
            <a:ext cx="2190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BCFF">
              <a:alpha val="13333"/>
            </a:srgbClr>
          </a:solidFill>
          <a:ln xmlns:a="http://schemas.openxmlformats.org/drawingml/2006/main" w="9525">
            <a:solidFill>
              <a:srgbClr val="D0BCFF">
                <a:alpha val="40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C03E9B-9BAE-4B1A-844B-7BD479BF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60007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0BCFF"/>
                </a:solidFill>
              </a:defRPr>
            </a:pPr>
            <a:r>
              <a:rPr sz="1275" b="1">
                <a:solidFill>
                  <a:srgbClr val="D0BCFF"/>
                </a:solidFill>
              </a:rPr>
              <a:t>Leaderboard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DDE709-2746-4422-9DBB-6100AD3C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6465570"/>
            <a:ext cx="2190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BCFF">
              <a:alpha val="13333"/>
            </a:srgbClr>
          </a:solidFill>
          <a:ln xmlns:a="http://schemas.openxmlformats.org/drawingml/2006/main" w="9525">
            <a:solidFill>
              <a:srgbClr val="D0BCFF">
                <a:alpha val="4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F49378-231A-46A0-9B3D-63A2FBA7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65341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0BCFF"/>
                </a:solidFill>
              </a:defRPr>
            </a:pPr>
            <a:r>
              <a:rPr sz="1275" b="1">
                <a:solidFill>
                  <a:srgbClr val="D0BCFF"/>
                </a:solidFill>
              </a:rPr>
              <a:t>History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0A2B8B-5150-444E-AFD9-90979F8B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2948940"/>
            <a:ext cx="5359400" cy="6728460"/>
          </a:xfrm>
          <a:prstGeom xmlns:a="http://schemas.openxmlformats.org/drawingml/2006/main" prst="roundRect">
            <a:avLst>
              <a:gd name="adj" fmla="val 4265"/>
            </a:avLst>
          </a:prstGeom>
          <a:solidFill xmlns:a="http://schemas.openxmlformats.org/drawingml/2006/main">
            <a:srgbClr val="171F33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E77A88-22F3-4770-AB0A-02A39E93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238500"/>
            <a:ext cx="4781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AE2FD"/>
                </a:solidFill>
              </a:defRPr>
            </a:pPr>
            <a:r>
              <a:rPr sz="2850" b="1">
                <a:solidFill>
                  <a:srgbClr val="DAE2FD"/>
                </a:solidFill>
              </a:rPr>
              <a:t>Live gameplay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605EDC-2330-454D-8997-1B480A81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886200"/>
            <a:ext cx="4781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BC3D7"/>
                </a:solidFill>
              </a:defRPr>
            </a:pPr>
            <a:r>
              <a:rPr sz="1800">
                <a:solidFill>
                  <a:srgbClr val="CBC3D7"/>
                </a:solidFill>
              </a:rPr>
              <a:t>Participants see only the active question and can answer only while it is being demonstrated.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0C9D31-E030-4C2B-A075-5EADDC74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629150"/>
            <a:ext cx="478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449"/>
          </a:solidFill>
          <a:ln xmlns:a="http://schemas.openxmlformats.org/drawingml/2006/main" w="0">
            <a:solidFill>
              <a:srgbClr val="2D344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0ED367-BE5D-446A-9A44-4E82237D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6150" y="4865370"/>
            <a:ext cx="2190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BCFF">
              <a:alpha val="13333"/>
            </a:srgbClr>
          </a:solidFill>
          <a:ln xmlns:a="http://schemas.openxmlformats.org/drawingml/2006/main" w="9525">
            <a:solidFill>
              <a:srgbClr val="D0BCFF">
                <a:alpha val="40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AC3F04-53D3-46AC-9E07-64DA3580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49339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0BCFF"/>
                </a:solidFill>
              </a:defRPr>
            </a:pPr>
            <a:r>
              <a:rPr sz="1275" b="1">
                <a:solidFill>
                  <a:srgbClr val="D0BCFF"/>
                </a:solidFill>
              </a:rPr>
              <a:t>Socket.IO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4A19AC-434F-471C-B8E0-473063D1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6150" y="5398770"/>
            <a:ext cx="2190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BCFF">
              <a:alpha val="13333"/>
            </a:srgbClr>
          </a:solidFill>
          <a:ln xmlns:a="http://schemas.openxmlformats.org/drawingml/2006/main" w="9525">
            <a:solidFill>
              <a:srgbClr val="D0BCFF">
                <a:alpha val="40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D4E9B5-6807-4AF4-BF2F-FA2736CD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54673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0BCFF"/>
                </a:solidFill>
              </a:defRPr>
            </a:pPr>
            <a:r>
              <a:rPr sz="1275" b="1">
                <a:solidFill>
                  <a:srgbClr val="D0BCFF"/>
                </a:solidFill>
              </a:rPr>
              <a:t>Timer lock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F710AB-EF7B-4E7A-A817-99BE623A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6150" y="5932170"/>
            <a:ext cx="2190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BCFF">
              <a:alpha val="13333"/>
            </a:srgbClr>
          </a:solidFill>
          <a:ln xmlns:a="http://schemas.openxmlformats.org/drawingml/2006/main" w="9525">
            <a:solidFill>
              <a:srgbClr val="D0BCFF">
                <a:alpha val="40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4E9E6B-7115-4C80-8C10-768C6771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60007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0BCFF"/>
                </a:solidFill>
              </a:defRPr>
            </a:pPr>
            <a:r>
              <a:rPr sz="1275" b="1">
                <a:solidFill>
                  <a:srgbClr val="D0BCFF"/>
                </a:solidFill>
              </a:rPr>
              <a:t>Speed bonus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8EF674-3611-4483-A4F4-FD3C82CC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6150" y="6465570"/>
            <a:ext cx="2190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BCFF">
              <a:alpha val="13333"/>
            </a:srgbClr>
          </a:solidFill>
          <a:ln xmlns:a="http://schemas.openxmlformats.org/drawingml/2006/main" w="9525">
            <a:solidFill>
              <a:srgbClr val="D0BCFF">
                <a:alpha val="4000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096B14-43E3-42C5-92DB-8CA2A54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65341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0BCFF"/>
                </a:solidFill>
              </a:defRPr>
            </a:pPr>
            <a:r>
              <a:rPr sz="1275" b="1">
                <a:solidFill>
                  <a:srgbClr val="D0BCFF"/>
                </a:solidFill>
              </a:rPr>
              <a:t>Realtime state</a:t>
            </a:r>
          </a:p>
        </p:txBody>
      </p:sp>
    </p:spTree>
    <p:extLst>
      <p:ext uri="{BB962C8B-B14F-4D97-AF65-F5344CB8AC3E}">
        <p14:creationId xmlns:p14="http://schemas.microsoft.com/office/powerpoint/2010/main" val="3025056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88D4D5-E1C1-446A-9D04-DFAF4E85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5969F-5F9B-42C9-AEA4-EB259E54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2095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BCFF">
              <a:alpha val="13333"/>
            </a:srgbClr>
          </a:solidFill>
          <a:ln xmlns:a="http://schemas.openxmlformats.org/drawingml/2006/main" w="9525">
            <a:solidFill>
              <a:srgbClr val="D0BCFF">
                <a:alpha val="4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AC471-0ACA-4A55-AC7E-3BE5B5FC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85800"/>
            <a:ext cx="182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0BCFF"/>
                </a:solidFill>
              </a:defRPr>
            </a:pPr>
            <a:r>
              <a:rPr sz="1275" b="1">
                <a:solidFill>
                  <a:srgbClr val="D0BCFF"/>
                </a:solidFill>
              </a:rPr>
              <a:t>Database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3C86D-8AE7-434F-A7B0-B54F84FD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1266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DAE2FD"/>
                </a:solidFill>
              </a:defRPr>
            </a:pPr>
            <a:r>
              <a:rPr sz="4350" b="1">
                <a:solidFill>
                  <a:srgbClr val="DAE2FD"/>
                </a:solidFill>
              </a:rPr>
              <a:t>SQLite schema behind rooms, scoring, and marketplace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AFB53-4F07-4797-B76E-D829788B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0740"/>
            <a:ext cx="5410200" cy="2112010"/>
          </a:xfrm>
          <a:prstGeom xmlns:a="http://schemas.openxmlformats.org/drawingml/2006/main" prst="roundRect">
            <a:avLst>
              <a:gd name="adj" fmla="val 8118"/>
            </a:avLst>
          </a:prstGeom>
          <a:solidFill xmlns:a="http://schemas.openxmlformats.org/drawingml/2006/main">
            <a:srgbClr val="171F33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3EB3E-5C4B-4E53-8F2B-3887B05D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4991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0BCFF"/>
                </a:solidFill>
              </a:defRPr>
            </a:pPr>
            <a:r>
              <a:rPr sz="2325" b="1">
                <a:solidFill>
                  <a:srgbClr val="D0BCFF"/>
                </a:solidFill>
              </a:rPr>
              <a:t>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935C1-AF0D-4123-B90D-E90A3654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499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BC3D7"/>
                </a:solidFill>
              </a:defRPr>
            </a:pPr>
            <a:r>
              <a:rPr sz="1425">
                <a:solidFill>
                  <a:srgbClr val="CBC3D7"/>
                </a:solidFill>
              </a:rPr>
              <a:t>roles, wallet_points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B09F6-590B-49C0-8B2C-B4A800AB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10740"/>
            <a:ext cx="5410200" cy="2112010"/>
          </a:xfrm>
          <a:prstGeom xmlns:a="http://schemas.openxmlformats.org/drawingml/2006/main" prst="roundRect">
            <a:avLst>
              <a:gd name="adj" fmla="val 8118"/>
            </a:avLst>
          </a:prstGeom>
          <a:solidFill xmlns:a="http://schemas.openxmlformats.org/drawingml/2006/main">
            <a:srgbClr val="171F33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4834D-4AD1-4088-8131-20B9F12F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4991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0BCFF"/>
                </a:solidFill>
              </a:defRPr>
            </a:pPr>
            <a:r>
              <a:rPr sz="2325" b="1">
                <a:solidFill>
                  <a:srgbClr val="D0BCFF"/>
                </a:solidFill>
              </a:rPr>
              <a:t>quizzes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466F3-98E8-4CB0-A4E4-4979270E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76600"/>
            <a:ext cx="499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BC3D7"/>
                </a:solidFill>
              </a:defRPr>
            </a:pPr>
            <a:r>
              <a:rPr sz="1425">
                <a:solidFill>
                  <a:srgbClr val="CBC3D7"/>
                </a:solidFill>
              </a:rPr>
              <a:t>title, category,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7B24A-A276-4669-824B-D686D527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110740"/>
            <a:ext cx="5410200" cy="2112010"/>
          </a:xfrm>
          <a:prstGeom xmlns:a="http://schemas.openxmlformats.org/drawingml/2006/main" prst="roundRect">
            <a:avLst>
              <a:gd name="adj" fmla="val 8118"/>
            </a:avLst>
          </a:prstGeom>
          <a:solidFill xmlns:a="http://schemas.openxmlformats.org/drawingml/2006/main">
            <a:srgbClr val="171F33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F762C-8E9C-4539-8430-2C15EADF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838450"/>
            <a:ext cx="4991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0BCFF"/>
                </a:solidFill>
              </a:defRPr>
            </a:pPr>
            <a:r>
              <a:rPr sz="2325" b="1">
                <a:solidFill>
                  <a:srgbClr val="D0BCFF"/>
                </a:solidFill>
              </a:rPr>
              <a:t>questions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6F46B-1B34-4D41-9E79-673B8DF7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276600"/>
            <a:ext cx="499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BC3D7"/>
                </a:solidFill>
              </a:defRPr>
            </a:pPr>
            <a:r>
              <a:rPr sz="1425">
                <a:solidFill>
                  <a:srgbClr val="CBC3D7"/>
                </a:solidFill>
              </a:rPr>
              <a:t>prompt, media, timer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BA50F-A982-4A7B-8FAD-FDBA03FA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3250"/>
            <a:ext cx="5410200" cy="2112010"/>
          </a:xfrm>
          <a:prstGeom xmlns:a="http://schemas.openxmlformats.org/drawingml/2006/main" prst="roundRect">
            <a:avLst>
              <a:gd name="adj" fmla="val 8118"/>
            </a:avLst>
          </a:prstGeom>
          <a:solidFill xmlns:a="http://schemas.openxmlformats.org/drawingml/2006/main">
            <a:srgbClr val="171F33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19661A-C810-4A8C-951C-25BD1733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4991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0BCFF"/>
                </a:solidFill>
              </a:defRPr>
            </a:pPr>
            <a:r>
              <a:rPr sz="2325" b="1">
                <a:solidFill>
                  <a:srgbClr val="D0BCFF"/>
                </a:solidFill>
              </a:rPr>
              <a:t>options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DAF63-0946-45BD-B306-9161C87C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81650"/>
            <a:ext cx="499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BC3D7"/>
                </a:solidFill>
              </a:defRPr>
            </a:pPr>
            <a:r>
              <a:rPr sz="1425">
                <a:solidFill>
                  <a:srgbClr val="CBC3D7"/>
                </a:solidFill>
              </a:rPr>
              <a:t>answers, correctness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84933-F4B0-4495-8AA6-8AD95698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13250"/>
            <a:ext cx="5410200" cy="2112010"/>
          </a:xfrm>
          <a:prstGeom xmlns:a="http://schemas.openxmlformats.org/drawingml/2006/main" prst="roundRect">
            <a:avLst>
              <a:gd name="adj" fmla="val 8118"/>
            </a:avLst>
          </a:prstGeom>
          <a:solidFill xmlns:a="http://schemas.openxmlformats.org/drawingml/2006/main">
            <a:srgbClr val="171F33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2BD444-B50B-4F5E-B3D6-562F9C4F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43500"/>
            <a:ext cx="4991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0BCFF"/>
                </a:solidFill>
              </a:defRPr>
            </a:pPr>
            <a:r>
              <a:rPr sz="2325" b="1">
                <a:solidFill>
                  <a:srgbClr val="D0BCFF"/>
                </a:solidFill>
              </a:rPr>
              <a:t>rooms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306D7F-9EFF-401B-A75C-4B463C5C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581650"/>
            <a:ext cx="499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BC3D7"/>
                </a:solidFill>
              </a:defRPr>
            </a:pPr>
            <a:r>
              <a:rPr sz="1425">
                <a:solidFill>
                  <a:srgbClr val="CBC3D7"/>
                </a:solidFill>
              </a:rPr>
              <a:t>code, status, current question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7C4AAD-C0C2-46AA-A816-B9927274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413250"/>
            <a:ext cx="5410200" cy="2112010"/>
          </a:xfrm>
          <a:prstGeom xmlns:a="http://schemas.openxmlformats.org/drawingml/2006/main" prst="roundRect">
            <a:avLst>
              <a:gd name="adj" fmla="val 8118"/>
            </a:avLst>
          </a:prstGeom>
          <a:solidFill xmlns:a="http://schemas.openxmlformats.org/drawingml/2006/main">
            <a:srgbClr val="171F33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535583-A040-4102-BBE7-4A9FE619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5143500"/>
            <a:ext cx="4991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0BCFF"/>
                </a:solidFill>
              </a:defRPr>
            </a:pPr>
            <a:r>
              <a:rPr sz="2325" b="1">
                <a:solidFill>
                  <a:srgbClr val="D0BCFF"/>
                </a:solidFill>
              </a:rPr>
              <a:t>room_participants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4DA223-4393-4941-9400-186CD653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5581650"/>
            <a:ext cx="499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BC3D7"/>
                </a:solidFill>
              </a:defRPr>
            </a:pPr>
            <a:r>
              <a:rPr sz="1425">
                <a:solidFill>
                  <a:srgbClr val="CBC3D7"/>
                </a:solidFill>
              </a:rPr>
              <a:t>display name, score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C54FAF-DB36-4141-BD50-DAD73498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15760"/>
            <a:ext cx="5410200" cy="2112010"/>
          </a:xfrm>
          <a:prstGeom xmlns:a="http://schemas.openxmlformats.org/drawingml/2006/main" prst="roundRect">
            <a:avLst>
              <a:gd name="adj" fmla="val 8118"/>
            </a:avLst>
          </a:prstGeom>
          <a:solidFill xmlns:a="http://schemas.openxmlformats.org/drawingml/2006/main">
            <a:srgbClr val="171F33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CE1884-6184-4FCE-B582-691ACE09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429500"/>
            <a:ext cx="4991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0BCFF"/>
                </a:solidFill>
              </a:defRPr>
            </a:pPr>
            <a:r>
              <a:rPr sz="2325" b="1">
                <a:solidFill>
                  <a:srgbClr val="D0BCFF"/>
                </a:solidFill>
              </a:rPr>
              <a:t>responses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74FC27-AFB2-40F9-AF04-A522D08F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86700"/>
            <a:ext cx="499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BC3D7"/>
                </a:solidFill>
              </a:defRPr>
            </a:pPr>
            <a:r>
              <a:rPr sz="1425">
                <a:solidFill>
                  <a:srgbClr val="CBC3D7"/>
                </a:solidFill>
              </a:rPr>
              <a:t>selected options, 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6E625A-3FE8-4ADE-B087-613CB867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715760"/>
            <a:ext cx="5410200" cy="2112010"/>
          </a:xfrm>
          <a:prstGeom xmlns:a="http://schemas.openxmlformats.org/drawingml/2006/main" prst="roundRect">
            <a:avLst>
              <a:gd name="adj" fmla="val 8118"/>
            </a:avLst>
          </a:prstGeom>
          <a:solidFill xmlns:a="http://schemas.openxmlformats.org/drawingml/2006/main">
            <a:srgbClr val="171F33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0E9AB6-AF50-40D1-ACFD-75ECC79F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7429500"/>
            <a:ext cx="4991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0BCFF"/>
                </a:solidFill>
              </a:defRPr>
            </a:pPr>
            <a:r>
              <a:rPr sz="2325" b="1">
                <a:solidFill>
                  <a:srgbClr val="D0BCFF"/>
                </a:solidFill>
              </a:rPr>
              <a:t>marketplace_items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198E8D-E491-4565-9337-400BABC8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7886700"/>
            <a:ext cx="499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BC3D7"/>
                </a:solidFill>
              </a:defRPr>
            </a:pPr>
            <a:r>
              <a:rPr sz="1425">
                <a:solidFill>
                  <a:srgbClr val="CBC3D7"/>
                </a:solidFill>
              </a:rPr>
              <a:t>emoji and reactions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13B4F0-B088-4B44-AB60-D7261C6A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715760"/>
            <a:ext cx="5410200" cy="2112010"/>
          </a:xfrm>
          <a:prstGeom xmlns:a="http://schemas.openxmlformats.org/drawingml/2006/main" prst="roundRect">
            <a:avLst>
              <a:gd name="adj" fmla="val 8118"/>
            </a:avLst>
          </a:prstGeom>
          <a:solidFill xmlns:a="http://schemas.openxmlformats.org/drawingml/2006/main">
            <a:srgbClr val="171F33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289141-3937-40BB-9D8B-27EE0735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7429500"/>
            <a:ext cx="4991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0BCFF"/>
                </a:solidFill>
              </a:defRPr>
            </a:pPr>
            <a:r>
              <a:rPr sz="2325" b="1">
                <a:solidFill>
                  <a:srgbClr val="D0BCFF"/>
                </a:solidFill>
              </a:rPr>
              <a:t>wallet_events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9CD623-5CC0-42BC-896D-AC010E63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7886700"/>
            <a:ext cx="499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BC3D7"/>
                </a:solidFill>
              </a:defRPr>
            </a:pPr>
            <a:r>
              <a:rPr sz="1425">
                <a:solidFill>
                  <a:srgbClr val="CBC3D7"/>
                </a:solidFill>
              </a:rPr>
              <a:t>VP awards and purchases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ADD265-BA47-4903-8906-397E8C67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44000"/>
            <a:ext cx="14230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958EA0"/>
                </a:solidFill>
              </a:defRPr>
            </a:pPr>
            <a:r>
              <a:rPr sz="1725">
                <a:solidFill>
                  <a:srgbClr val="958EA0"/>
                </a:solidFill>
              </a:rPr>
              <a:t>Main relationships: users create quizzes; quizzes launch rooms; rooms collect participants and responses; top placements write wallet events; users spend VP on marketplace items.</a:t>
            </a:r>
          </a:p>
        </p:txBody>
      </p:sp>
    </p:spTree>
    <p:extLst>
      <p:ext uri="{BB962C8B-B14F-4D97-AF65-F5344CB8AC3E}">
        <p14:creationId xmlns:p14="http://schemas.microsoft.com/office/powerpoint/2010/main" val="5055975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3E03F7-2367-4DC6-9E40-C5453784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03A50-7420-4437-A257-D882FAE4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1455"/>
            <a:ext cx="18478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DEA3">
              <a:alpha val="13333"/>
            </a:srgbClr>
          </a:solidFill>
          <a:ln xmlns:a="http://schemas.openxmlformats.org/drawingml/2006/main" w="9525">
            <a:solidFill>
              <a:srgbClr val="4EDEA3">
                <a:alpha val="4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7F8D7-6ECE-4E6D-B895-9C9EA450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1581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EDEA3"/>
                </a:solidFill>
              </a:defRPr>
            </a:pPr>
            <a:r>
              <a:rPr sz="1275" b="1">
                <a:solidFill>
                  <a:srgbClr val="4EDEA3"/>
                </a:solidFill>
              </a:rPr>
              <a:t>Game economy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75BE0-2790-4C8D-ADC2-73ABDC00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64198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DAE2FD"/>
                </a:solidFill>
              </a:defRPr>
            </a:pPr>
            <a:r>
              <a:rPr sz="4500" b="1">
                <a:solidFill>
                  <a:srgbClr val="DAE2FD"/>
                </a:solidFill>
              </a:rPr>
              <a:t>Winning becomes currency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A6EF5-28CA-4910-AB10-ACD631C9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72100"/>
            <a:ext cx="6667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CBC3D7"/>
                </a:solidFill>
              </a:defRPr>
            </a:pPr>
            <a:r>
              <a:rPr sz="1950">
                <a:solidFill>
                  <a:srgbClr val="CBC3D7"/>
                </a:solidFill>
              </a:rPr>
              <a:t>The podium payout keeps the marketplace meaningful without adding payments: 1st place earns 3 VP, 2nd earns 2 VP, 3rd earns 1 VP. Each emoji badge or reaction costs 10 VP.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8722D-6772-4ED2-81C5-863B46BE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8745" y="2209800"/>
            <a:ext cx="8441055" cy="3905250"/>
          </a:xfrm>
          <a:prstGeom xmlns:a="http://schemas.openxmlformats.org/drawingml/2006/main" prst="roundRect">
            <a:avLst>
              <a:gd name="adj" fmla="val 5366"/>
            </a:avLst>
          </a:prstGeom>
          <a:solidFill xmlns:a="http://schemas.openxmlformats.org/drawingml/2006/main">
            <a:srgbClr val="171F33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1C858-1777-444A-9529-3AAC015E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7650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EDEA3"/>
                </a:solidFill>
              </a:defRPr>
            </a:pPr>
            <a:r>
              <a:rPr sz="1650" b="1">
                <a:solidFill>
                  <a:srgbClr val="4EDEA3"/>
                </a:solidFill>
              </a:rPr>
              <a:t>Victory points by placement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61045-FA3A-4B71-961C-41417719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81350"/>
            <a:ext cx="2476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AE2FD"/>
                </a:solidFill>
              </a:defRPr>
            </a:pPr>
            <a:r>
              <a:rPr sz="2400" b="1">
                <a:solidFill>
                  <a:srgbClr val="DAE2FD"/>
                </a:solidFill>
              </a:rPr>
              <a:t>3 VP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44AFE-812E-4425-81B2-7148637D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688080"/>
            <a:ext cx="685800" cy="18097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EDEA3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2E7A7-5E54-4DE8-A7B2-6A9A819D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6388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BC3D7"/>
                </a:solidFill>
              </a:defRPr>
            </a:pPr>
            <a:r>
              <a:rPr sz="1425">
                <a:solidFill>
                  <a:srgbClr val="CBC3D7"/>
                </a:solidFill>
              </a:rPr>
              <a:t>1st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F7C60-0A6D-490F-8DB9-173B2A59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771900"/>
            <a:ext cx="2476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AE2FD"/>
                </a:solidFill>
              </a:defRPr>
            </a:pPr>
            <a:r>
              <a:rPr sz="2400" b="1">
                <a:solidFill>
                  <a:srgbClr val="DAE2FD"/>
                </a:solidFill>
              </a:rPr>
              <a:t>2 VP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B3C45-6415-45DB-9E05-FC3810CA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4278630"/>
            <a:ext cx="685800" cy="12192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89CE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7D175-B6FD-4588-B3B7-612918FD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56388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BC3D7"/>
                </a:solidFill>
              </a:defRPr>
            </a:pPr>
            <a:r>
              <a:rPr sz="1425">
                <a:solidFill>
                  <a:srgbClr val="CBC3D7"/>
                </a:solidFill>
              </a:rPr>
              <a:t>2nd place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4955EA-F870-4AF5-BAE7-E718298D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0" y="4343400"/>
            <a:ext cx="2476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AE2FD"/>
                </a:solidFill>
              </a:defRPr>
            </a:pPr>
            <a:r>
              <a:rPr sz="2400" b="1">
                <a:solidFill>
                  <a:srgbClr val="DAE2FD"/>
                </a:solidFill>
              </a:rPr>
              <a:t>1 VP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91EC6-6AB6-42F2-B220-D124B5F2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4850130"/>
            <a:ext cx="6858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0BC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7C82CF-A09D-4BBE-BEB0-0CEE136F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0" y="56388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BC3D7"/>
                </a:solidFill>
              </a:defRPr>
            </a:pPr>
            <a:r>
              <a:rPr sz="1425">
                <a:solidFill>
                  <a:srgbClr val="CBC3D7"/>
                </a:solidFill>
              </a:rPr>
              <a:t>3rd place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01ED85-0386-4679-867D-A6F0466D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8745" y="6362700"/>
            <a:ext cx="4125278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71F33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F34116-96B3-41BC-B7F2-366C4CA3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724650"/>
            <a:ext cx="3752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AE2FD"/>
                </a:solidFill>
              </a:defRPr>
            </a:pPr>
            <a:r>
              <a:rPr sz="2550" b="1">
                <a:solidFill>
                  <a:srgbClr val="DAE2FD"/>
                </a:solidFill>
              </a:rPr>
              <a:t>10 VP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B62C97-09CD-4C6C-BCC0-56717486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7181850"/>
            <a:ext cx="3752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0BCFF"/>
                </a:solidFill>
              </a:defRPr>
            </a:pPr>
            <a:r>
              <a:rPr sz="1650" b="1">
                <a:solidFill>
                  <a:srgbClr val="D0BCFF"/>
                </a:solidFill>
              </a:rPr>
              <a:t>Emoji badge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F6D835-1826-4595-8353-69F716FA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7505700"/>
            <a:ext cx="3752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58EA0"/>
                </a:solidFill>
              </a:defRPr>
            </a:pPr>
            <a:r>
              <a:rPr sz="1350">
                <a:solidFill>
                  <a:srgbClr val="958EA0"/>
                </a:solidFill>
              </a:rPr>
              <a:t>Displayed near player name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D88122-B270-4711-A13D-958EB953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4523" y="6362700"/>
            <a:ext cx="4125278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71F33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98A346-30B1-467E-9DC8-5E60A25F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6724650"/>
            <a:ext cx="3752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AE2FD"/>
                </a:solidFill>
              </a:defRPr>
            </a:pPr>
            <a:r>
              <a:rPr sz="2550" b="1">
                <a:solidFill>
                  <a:srgbClr val="DAE2FD"/>
                </a:solidFill>
              </a:rPr>
              <a:t>10 VP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6332BA-FAC2-499C-B72A-F83EB20D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181850"/>
            <a:ext cx="3752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0BCFF"/>
                </a:solidFill>
              </a:defRPr>
            </a:pPr>
            <a:r>
              <a:rPr sz="1650" b="1">
                <a:solidFill>
                  <a:srgbClr val="D0BCFF"/>
                </a:solidFill>
              </a:rPr>
              <a:t>Live reaction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6CB4B1-9F85-4D65-805E-0F2C5641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505700"/>
            <a:ext cx="3752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58EA0"/>
                </a:solidFill>
              </a:defRPr>
            </a:pPr>
            <a:r>
              <a:rPr sz="1350">
                <a:solidFill>
                  <a:srgbClr val="958EA0"/>
                </a:solidFill>
              </a:rPr>
              <a:t>Visible to everyone in-room</a:t>
            </a:r>
          </a:p>
        </p:txBody>
      </p:sp>
    </p:spTree>
    <p:extLst>
      <p:ext uri="{BB962C8B-B14F-4D97-AF65-F5344CB8AC3E}">
        <p14:creationId xmlns:p14="http://schemas.microsoft.com/office/powerpoint/2010/main" val="17686553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DC25D7-6D6A-4D04-A5EC-1298AEBB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90B82-06BF-48EB-82A2-3304F2B3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3525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9CEFF">
              <a:alpha val="13333"/>
            </a:srgbClr>
          </a:solidFill>
          <a:ln xmlns:a="http://schemas.openxmlformats.org/drawingml/2006/main" w="9525">
            <a:solidFill>
              <a:srgbClr val="89CEFF">
                <a:alpha val="4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D80ED-1247-4DA1-A8D3-AE4727B4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5730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9CEFF"/>
                </a:solidFill>
              </a:defRPr>
            </a:pPr>
            <a:r>
              <a:rPr sz="1275" b="1">
                <a:solidFill>
                  <a:srgbClr val="89CEFF"/>
                </a:solidFill>
              </a:rPr>
              <a:t>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2ACDA-B809-4711-AB5B-CAA34927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1038225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DAE2FD"/>
                </a:solidFill>
              </a:defRPr>
            </a:pPr>
            <a:r>
              <a:rPr sz="4950" b="1">
                <a:solidFill>
                  <a:srgbClr val="DAE2FD"/>
                </a:solidFill>
              </a:rPr>
              <a:t>Prototype ready for public repo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659A7-17EE-4C2A-BBF5-4A3B5787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7610"/>
            <a:ext cx="8162925" cy="3714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71F33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C96DF-DB99-4CD0-AD52-15A7921B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7562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DAE2FD"/>
                </a:solidFill>
              </a:defRPr>
            </a:pPr>
            <a:r>
              <a:rPr sz="3000" b="1">
                <a:solidFill>
                  <a:srgbClr val="DAE2FD"/>
                </a:solidFill>
              </a:rPr>
              <a:t>Repository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53DAC-054C-4BC8-9F56-C5B7A190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81650"/>
            <a:ext cx="7562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BC3D7"/>
                </a:solidFill>
              </a:defRPr>
            </a:pPr>
            <a:r>
              <a:rPr sz="1800">
                <a:solidFill>
                  <a:srgbClr val="CBC3D7"/>
                </a:solidFill>
              </a:rPr>
              <a:t>Source code, README, database model, tests, and this deck.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467D7-F534-449A-98A6-A7BDF728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57900"/>
            <a:ext cx="7562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9CEFF"/>
                </a:solidFill>
              </a:defRPr>
            </a:pPr>
            <a:r>
              <a:rPr sz="1350">
                <a:solidFill>
                  <a:srgbClr val="89CEFF"/>
                </a:solidFill>
              </a:rPr>
              <a:t>https://github.com/avkhnychenko/quizflow-mvp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81542-C761-40F5-ADCE-5C003977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37610"/>
            <a:ext cx="8162925" cy="3714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71F33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25E30-AC0B-44BA-955B-321E9067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38700"/>
            <a:ext cx="7562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DAE2FD"/>
                </a:solidFill>
              </a:defRPr>
            </a:pPr>
            <a:r>
              <a:rPr sz="3000" b="1">
                <a:solidFill>
                  <a:srgbClr val="DAE2FD"/>
                </a:solidFill>
              </a:rPr>
              <a:t>Figma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3CBD90-8B9B-4974-A9F1-59BCB746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486400"/>
            <a:ext cx="7562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BC3D7"/>
                </a:solidFill>
              </a:defRPr>
            </a:pPr>
            <a:r>
              <a:rPr sz="1800">
                <a:solidFill>
                  <a:srgbClr val="CBC3D7"/>
                </a:solidFill>
              </a:rPr>
              <a:t>Original visual direction and dev-mode design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867AD6-C1B2-4D20-A566-67909A6A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943600"/>
            <a:ext cx="756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9CEFF"/>
                </a:solidFill>
              </a:defRPr>
            </a:pPr>
            <a:r>
              <a:rPr sz="1350">
                <a:solidFill>
                  <a:srgbClr val="89CEFF"/>
                </a:solidFill>
              </a:rPr>
              <a:t>https://www.figma.com/design/Iir67uZiOFG9fOjQ5tzS4y/Untitled?node-id=0-1&amp;p=f&amp;t=gj5FxMSEWYS14AJv-0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7E9B5-E50C-41B2-B1B8-2C272D84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76210"/>
            <a:ext cx="16611600" cy="1329690"/>
          </a:xfrm>
          <a:prstGeom xmlns:a="http://schemas.openxmlformats.org/drawingml/2006/main" prst="roundRect">
            <a:avLst>
              <a:gd name="adj" fmla="val 14327"/>
            </a:avLst>
          </a:prstGeom>
          <a:solidFill xmlns:a="http://schemas.openxmlformats.org/drawingml/2006/main">
            <a:srgbClr val="060E20"/>
          </a:solidFill>
          <a:ln xmlns:a="http://schemas.openxmlformats.org/drawingml/2006/main" w="9525">
            <a:solidFill>
              <a:srgbClr val="2D344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F54342-3568-4780-ADD2-CF03DAF4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981950"/>
            <a:ext cx="16078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DEA3"/>
                </a:solidFill>
              </a:defRPr>
            </a:pPr>
            <a:r>
              <a:rPr sz="1500" b="1">
                <a:solidFill>
                  <a:srgbClr val="4EDEA3"/>
                </a:solidFill>
              </a:rPr>
              <a:t>Run locally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753CEB-B99A-426F-9418-84BA9B6F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05800"/>
            <a:ext cx="16078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AE2FD"/>
                </a:solidFill>
              </a:defRPr>
            </a:pPr>
            <a:r>
              <a:rPr sz="1875">
                <a:solidFill>
                  <a:srgbClr val="DAE2FD"/>
                </a:solidFill>
              </a:rPr>
              <a:t>npm install -&gt; npm run build -&gt; npm start -&gt; http://localhost:3001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CC8581-927C-4A6B-846F-27D04D3B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686800"/>
            <a:ext cx="16078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58EA0"/>
                </a:solidFill>
              </a:defRPr>
            </a:pPr>
            <a:r>
              <a:rPr sz="1350">
                <a:solidFill>
                  <a:srgbClr val="958EA0"/>
                </a:solidFill>
              </a:rPr>
              <a:t>Figma dev mode: https://www.figma.com/design/Iir67uZiOFG9fOjQ5tzS4y/Untitled?node-id=0-1&amp;m=dev&amp;t=gj5FxMSEWYS14AJv-1</a:t>
            </a:r>
          </a:p>
        </p:txBody>
      </p:sp>
    </p:spTree>
    <p:extLst>
      <p:ext uri="{BB962C8B-B14F-4D97-AF65-F5344CB8AC3E}">
        <p14:creationId xmlns:p14="http://schemas.microsoft.com/office/powerpoint/2010/main" val="510883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2026-04-28T19:41:51.0170000Z</dcterms:created>
  <dcterms:modified xsi:type="dcterms:W3CDTF">2026-04-28T19:41:51.0170000Z</dcterms:modified>
</coreProperties>
</file>