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8288000" cy="10287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58" d="100"/>
          <a:sy n="58" d="100"/>
        </p:scale>
        <p:origin x="40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FF621B19-0E13-4988-BA59-53B153062E4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326"/>
          </a:solidFill>
        </p:spPr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B49E6B7D-89C7-4BF0-A855-8A5C9E69790C}"/>
              </a:ext>
            </a:extLst>
          </p:cNvPr>
          <p:cNvSpPr>
            <a:spLocks noGrp="1"/>
          </p:cNvSpPr>
          <p:nvPr/>
        </p:nvSpPr>
        <p:spPr>
          <a:xfrm>
            <a:off x="903842" y="2000165"/>
            <a:ext cx="1847850" cy="400050"/>
          </a:xfrm>
          <a:prstGeom prst="roundRect">
            <a:avLst>
              <a:gd name="adj" fmla="val 50000"/>
            </a:avLst>
          </a:prstGeom>
          <a:solidFill>
            <a:srgbClr val="4EDEA3">
              <a:alpha val="13333"/>
            </a:srgbClr>
          </a:solidFill>
          <a:ln w="9525">
            <a:solidFill>
              <a:srgbClr val="4EDEA3">
                <a:alpha val="40000"/>
              </a:srgbClr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6A895C3-77EF-4BC4-9D93-B0392C97964E}"/>
              </a:ext>
            </a:extLst>
          </p:cNvPr>
          <p:cNvSpPr>
            <a:spLocks noGrp="1"/>
          </p:cNvSpPr>
          <p:nvPr/>
        </p:nvSpPr>
        <p:spPr>
          <a:xfrm>
            <a:off x="1025028" y="2095415"/>
            <a:ext cx="15811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4EDEA3"/>
                </a:solidFill>
              </a:defRPr>
            </a:pPr>
            <a:r>
              <a:rPr sz="1275" b="1" dirty="0" err="1">
                <a:solidFill>
                  <a:srgbClr val="4EDEA3"/>
                </a:solidFill>
              </a:rPr>
              <a:t>QuizFlow</a:t>
            </a:r>
            <a:r>
              <a:rPr sz="1275" b="1" dirty="0">
                <a:solidFill>
                  <a:srgbClr val="4EDEA3"/>
                </a:solidFill>
              </a:rPr>
              <a:t> MVP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F4AD4CB8-9B0A-4E5D-8361-5004AD5064F6}"/>
              </a:ext>
            </a:extLst>
          </p:cNvPr>
          <p:cNvSpPr>
            <a:spLocks noGrp="1"/>
          </p:cNvSpPr>
          <p:nvPr/>
        </p:nvSpPr>
        <p:spPr>
          <a:xfrm>
            <a:off x="838200" y="6995160"/>
            <a:ext cx="1047750" cy="400050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395359A-A66C-481D-AE13-B4A8C9E30311}"/>
              </a:ext>
            </a:extLst>
          </p:cNvPr>
          <p:cNvSpPr>
            <a:spLocks noGrp="1"/>
          </p:cNvSpPr>
          <p:nvPr/>
        </p:nvSpPr>
        <p:spPr>
          <a:xfrm>
            <a:off x="971550" y="7067550"/>
            <a:ext cx="781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sz="1275" b="1">
                <a:solidFill>
                  <a:srgbClr val="D0BCFF"/>
                </a:solidFill>
              </a:rPr>
              <a:t>React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FCE47BA0-A9D4-4F27-AEA3-D2CA54DF896A}"/>
              </a:ext>
            </a:extLst>
          </p:cNvPr>
          <p:cNvSpPr>
            <a:spLocks noGrp="1"/>
          </p:cNvSpPr>
          <p:nvPr/>
        </p:nvSpPr>
        <p:spPr>
          <a:xfrm>
            <a:off x="2057400" y="6995160"/>
            <a:ext cx="1228725" cy="400050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CB23719-816C-4432-A003-43F125269130}"/>
              </a:ext>
            </a:extLst>
          </p:cNvPr>
          <p:cNvSpPr>
            <a:spLocks noGrp="1"/>
          </p:cNvSpPr>
          <p:nvPr/>
        </p:nvSpPr>
        <p:spPr>
          <a:xfrm>
            <a:off x="2190750" y="7067550"/>
            <a:ext cx="9715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sz="1275" b="1">
                <a:solidFill>
                  <a:srgbClr val="D0BCFF"/>
                </a:solidFill>
              </a:rPr>
              <a:t>Express</a:t>
            </a: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429015EE-41CF-4F5B-AA87-45D0E8637A32}"/>
              </a:ext>
            </a:extLst>
          </p:cNvPr>
          <p:cNvSpPr>
            <a:spLocks noGrp="1"/>
          </p:cNvSpPr>
          <p:nvPr/>
        </p:nvSpPr>
        <p:spPr>
          <a:xfrm>
            <a:off x="3457575" y="6995160"/>
            <a:ext cx="1476375" cy="400050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C8C2ED9-4D54-4AC2-A6E8-1AA086F7DE5C}"/>
              </a:ext>
            </a:extLst>
          </p:cNvPr>
          <p:cNvSpPr>
            <a:spLocks noGrp="1"/>
          </p:cNvSpPr>
          <p:nvPr/>
        </p:nvSpPr>
        <p:spPr>
          <a:xfrm>
            <a:off x="3600450" y="7067550"/>
            <a:ext cx="12192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sz="1275" b="1">
                <a:solidFill>
                  <a:srgbClr val="D0BCFF"/>
                </a:solidFill>
              </a:rPr>
              <a:t>Socket.IO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3A79A1F8-25B1-435F-B4C6-22C90832C3DC}"/>
              </a:ext>
            </a:extLst>
          </p:cNvPr>
          <p:cNvSpPr>
            <a:spLocks noGrp="1"/>
          </p:cNvSpPr>
          <p:nvPr/>
        </p:nvSpPr>
        <p:spPr>
          <a:xfrm>
            <a:off x="5105400" y="6995160"/>
            <a:ext cx="1104900" cy="400050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9D52BBE-03D0-43D6-885A-EB20C4F57F94}"/>
              </a:ext>
            </a:extLst>
          </p:cNvPr>
          <p:cNvSpPr>
            <a:spLocks noGrp="1"/>
          </p:cNvSpPr>
          <p:nvPr/>
        </p:nvSpPr>
        <p:spPr>
          <a:xfrm>
            <a:off x="5238750" y="7067550"/>
            <a:ext cx="8382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sz="1275" b="1">
                <a:solidFill>
                  <a:srgbClr val="D0BCFF"/>
                </a:solidFill>
              </a:rPr>
              <a:t>SQLite</a:t>
            </a: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77D6710B-A590-4007-AFCE-F96C7DA32466}"/>
              </a:ext>
            </a:extLst>
          </p:cNvPr>
          <p:cNvSpPr>
            <a:spLocks noGrp="1"/>
          </p:cNvSpPr>
          <p:nvPr/>
        </p:nvSpPr>
        <p:spPr>
          <a:xfrm>
            <a:off x="14116050" y="4267200"/>
            <a:ext cx="29527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>
                <a:solidFill>
                  <a:srgbClr val="DAE2FD"/>
                </a:solidFill>
              </a:defRPr>
            </a:pPr>
            <a:endParaRPr sz="2175" b="1" dirty="0">
              <a:solidFill>
                <a:srgbClr val="DAE2FD"/>
              </a:solidFill>
            </a:endParaRP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D4FF68F8-D7B8-4439-9097-D35C77DF8457}"/>
              </a:ext>
            </a:extLst>
          </p:cNvPr>
          <p:cNvSpPr>
            <a:spLocks noGrp="1"/>
          </p:cNvSpPr>
          <p:nvPr/>
        </p:nvSpPr>
        <p:spPr>
          <a:xfrm>
            <a:off x="14116050" y="4857750"/>
            <a:ext cx="32385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>
                <a:solidFill>
                  <a:srgbClr val="D0BCFF"/>
                </a:solidFill>
              </a:defRPr>
            </a:pPr>
            <a:endParaRPr sz="1200" dirty="0">
              <a:solidFill>
                <a:srgbClr val="D0BCFF"/>
              </a:solidFill>
            </a:endParaRPr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DE421669-7F13-43F6-BB99-7370DE27D5AE}"/>
              </a:ext>
            </a:extLst>
          </p:cNvPr>
          <p:cNvSpPr>
            <a:spLocks noGrp="1"/>
          </p:cNvSpPr>
          <p:nvPr/>
        </p:nvSpPr>
        <p:spPr>
          <a:xfrm>
            <a:off x="16402050" y="4895850"/>
            <a:ext cx="6667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1">
                <a:solidFill>
                  <a:srgbClr val="4EDEA3"/>
                </a:solidFill>
              </a:defRPr>
            </a:pPr>
            <a:endParaRPr sz="1425" b="1" dirty="0">
              <a:solidFill>
                <a:srgbClr val="4EDEA3"/>
              </a:solidFill>
            </a:endParaRPr>
          </a:p>
        </p:txBody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719AD3E1-26B6-4A87-8177-5659E0025F6C}"/>
              </a:ext>
            </a:extLst>
          </p:cNvPr>
          <p:cNvSpPr>
            <a:spLocks noGrp="1"/>
          </p:cNvSpPr>
          <p:nvPr/>
        </p:nvSpPr>
        <p:spPr>
          <a:xfrm>
            <a:off x="14116050" y="5524500"/>
            <a:ext cx="32385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>
                <a:solidFill>
                  <a:srgbClr val="D0BCFF"/>
                </a:solidFill>
              </a:defRPr>
            </a:pPr>
            <a:endParaRPr sz="1200" dirty="0">
              <a:solidFill>
                <a:srgbClr val="D0BCFF"/>
              </a:solidFill>
            </a:endParaRPr>
          </a:p>
        </p:txBody>
      </p:sp>
      <p:sp>
        <p:nvSpPr>
          <p:cNvPr id="52" name="Прямоугольник 51">
            <a:extLst>
              <a:ext uri="{FF2B5EF4-FFF2-40B4-BE49-F238E27FC236}">
                <a16:creationId xmlns:a16="http://schemas.microsoft.com/office/drawing/2014/main" id="{FACDA3EF-3449-4A74-948A-7E392CEBF850}"/>
              </a:ext>
            </a:extLst>
          </p:cNvPr>
          <p:cNvSpPr>
            <a:spLocks noGrp="1"/>
          </p:cNvSpPr>
          <p:nvPr/>
        </p:nvSpPr>
        <p:spPr>
          <a:xfrm>
            <a:off x="14573250" y="5562600"/>
            <a:ext cx="16954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>
                <a:solidFill>
                  <a:srgbClr val="DAE2FD"/>
                </a:solidFill>
              </a:defRPr>
            </a:pPr>
            <a:endParaRPr sz="1500" dirty="0">
              <a:solidFill>
                <a:srgbClr val="DAE2FD"/>
              </a:solidFill>
            </a:endParaRPr>
          </a:p>
        </p:txBody>
      </p:sp>
      <p:sp>
        <p:nvSpPr>
          <p:cNvPr id="53" name="Прямоугольник 52">
            <a:extLst>
              <a:ext uri="{FF2B5EF4-FFF2-40B4-BE49-F238E27FC236}">
                <a16:creationId xmlns:a16="http://schemas.microsoft.com/office/drawing/2014/main" id="{072FF894-FC96-4F22-B23C-85EA4B58F45F}"/>
              </a:ext>
            </a:extLst>
          </p:cNvPr>
          <p:cNvSpPr>
            <a:spLocks noGrp="1"/>
          </p:cNvSpPr>
          <p:nvPr/>
        </p:nvSpPr>
        <p:spPr>
          <a:xfrm>
            <a:off x="16402050" y="5562600"/>
            <a:ext cx="6667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1">
                <a:solidFill>
                  <a:srgbClr val="4EDEA3"/>
                </a:solidFill>
              </a:defRPr>
            </a:pPr>
            <a:endParaRPr sz="1425" b="1" dirty="0">
              <a:solidFill>
                <a:srgbClr val="4EDEA3"/>
              </a:solidFill>
            </a:endParaRPr>
          </a:p>
        </p:txBody>
      </p: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5C41C642-04CC-4F82-A507-0080DE1D674F}"/>
              </a:ext>
            </a:extLst>
          </p:cNvPr>
          <p:cNvSpPr>
            <a:spLocks noGrp="1"/>
          </p:cNvSpPr>
          <p:nvPr/>
        </p:nvSpPr>
        <p:spPr>
          <a:xfrm>
            <a:off x="14116050" y="6191250"/>
            <a:ext cx="32385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>
                <a:solidFill>
                  <a:srgbClr val="D0BCFF"/>
                </a:solidFill>
              </a:defRPr>
            </a:pPr>
            <a:endParaRPr sz="1200" dirty="0">
              <a:solidFill>
                <a:srgbClr val="D0BCFF"/>
              </a:solidFill>
            </a:endParaRPr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75922051-DDFF-43C8-9317-76692FEC8F92}"/>
              </a:ext>
            </a:extLst>
          </p:cNvPr>
          <p:cNvSpPr>
            <a:spLocks noGrp="1"/>
          </p:cNvSpPr>
          <p:nvPr/>
        </p:nvSpPr>
        <p:spPr>
          <a:xfrm>
            <a:off x="14573250" y="6229350"/>
            <a:ext cx="16954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>
                <a:solidFill>
                  <a:srgbClr val="DAE2FD"/>
                </a:solidFill>
              </a:defRPr>
            </a:pPr>
            <a:endParaRPr sz="1500" dirty="0">
              <a:solidFill>
                <a:srgbClr val="DAE2FD"/>
              </a:solidFill>
            </a:endParaRPr>
          </a:p>
        </p:txBody>
      </p:sp>
      <p:sp>
        <p:nvSpPr>
          <p:cNvPr id="57" name="Прямоугольник 56">
            <a:extLst>
              <a:ext uri="{FF2B5EF4-FFF2-40B4-BE49-F238E27FC236}">
                <a16:creationId xmlns:a16="http://schemas.microsoft.com/office/drawing/2014/main" id="{F6B5C8C9-F398-4714-BB1D-C9794F30879E}"/>
              </a:ext>
            </a:extLst>
          </p:cNvPr>
          <p:cNvSpPr>
            <a:spLocks noGrp="1"/>
          </p:cNvSpPr>
          <p:nvPr/>
        </p:nvSpPr>
        <p:spPr>
          <a:xfrm>
            <a:off x="16402050" y="6229350"/>
            <a:ext cx="6667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1">
                <a:solidFill>
                  <a:srgbClr val="4EDEA3"/>
                </a:solidFill>
              </a:defRPr>
            </a:pPr>
            <a:endParaRPr sz="1425" b="1" dirty="0">
              <a:solidFill>
                <a:srgbClr val="4EDEA3"/>
              </a:solidFill>
            </a:endParaRPr>
          </a:p>
        </p:txBody>
      </p:sp>
      <p:pic>
        <p:nvPicPr>
          <p:cNvPr id="60" name="Рисунок 59">
            <a:extLst>
              <a:ext uri="{FF2B5EF4-FFF2-40B4-BE49-F238E27FC236}">
                <a16:creationId xmlns:a16="http://schemas.microsoft.com/office/drawing/2014/main" id="{9648FF47-4636-7914-A814-603372AE41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237" y="1809664"/>
            <a:ext cx="10744209" cy="6096171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2300FAA-B707-4352-A62D-5B4E1D9837FA}"/>
              </a:ext>
            </a:extLst>
          </p:cNvPr>
          <p:cNvSpPr>
            <a:spLocks noGrp="1"/>
          </p:cNvSpPr>
          <p:nvPr/>
        </p:nvSpPr>
        <p:spPr>
          <a:xfrm>
            <a:off x="838200" y="5676900"/>
            <a:ext cx="7029450" cy="1009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>
                <a:solidFill>
                  <a:srgbClr val="CBC3D7"/>
                </a:solidFill>
              </a:defRPr>
            </a:pPr>
            <a:r>
              <a:rPr lang="ru-RU" sz="2175" dirty="0">
                <a:solidFill>
                  <a:srgbClr val="CBC3D7"/>
                </a:solidFill>
              </a:rPr>
              <a:t>Прототип для проведения квизов с ограничениями по времени, различными типами вопросов и наградами за победы</a:t>
            </a:r>
            <a:endParaRPr sz="2175" dirty="0">
              <a:solidFill>
                <a:srgbClr val="CBC3D7"/>
              </a:solidFill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7199EE3-8E05-4547-A829-FFBE5A73ABE9}"/>
              </a:ext>
            </a:extLst>
          </p:cNvPr>
          <p:cNvSpPr>
            <a:spLocks noGrp="1"/>
          </p:cNvSpPr>
          <p:nvPr/>
        </p:nvSpPr>
        <p:spPr>
          <a:xfrm>
            <a:off x="819150" y="2686050"/>
            <a:ext cx="7048500" cy="1752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5700" b="1">
                <a:solidFill>
                  <a:srgbClr val="DAE2FD"/>
                </a:solidFill>
              </a:defRPr>
            </a:pPr>
            <a:r>
              <a:rPr lang="ru-RU" sz="5700" b="1" dirty="0">
                <a:solidFill>
                  <a:srgbClr val="DAE2FD"/>
                </a:solidFill>
              </a:rPr>
              <a:t>Квизы в реальном времени с игровой экономикой</a:t>
            </a:r>
            <a:endParaRPr sz="5700" b="1" dirty="0">
              <a:solidFill>
                <a:srgbClr val="DAE2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8913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7ED20378-33C1-4CB4-BB9F-89F2907ABF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326"/>
          </a:solidFill>
        </p:spPr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EFE60B72-48A3-45B8-8BB4-63DE4C9A3D42}"/>
              </a:ext>
            </a:extLst>
          </p:cNvPr>
          <p:cNvSpPr>
            <a:spLocks noGrp="1"/>
          </p:cNvSpPr>
          <p:nvPr/>
        </p:nvSpPr>
        <p:spPr>
          <a:xfrm>
            <a:off x="838200" y="609600"/>
            <a:ext cx="1971675" cy="400050"/>
          </a:xfrm>
          <a:prstGeom prst="roundRect">
            <a:avLst>
              <a:gd name="adj" fmla="val 50000"/>
            </a:avLst>
          </a:prstGeom>
          <a:solidFill>
            <a:srgbClr val="89CEFF">
              <a:alpha val="13333"/>
            </a:srgbClr>
          </a:solidFill>
          <a:ln w="9525">
            <a:solidFill>
              <a:srgbClr val="89CEFF">
                <a:alpha val="40000"/>
              </a:srgbClr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11760BA-C1EB-445C-82A1-91ED78B2CB9D}"/>
              </a:ext>
            </a:extLst>
          </p:cNvPr>
          <p:cNvSpPr>
            <a:spLocks noGrp="1"/>
          </p:cNvSpPr>
          <p:nvPr/>
        </p:nvSpPr>
        <p:spPr>
          <a:xfrm>
            <a:off x="971550" y="685800"/>
            <a:ext cx="17145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89CEFF"/>
                </a:solidFill>
              </a:defRPr>
            </a:pPr>
            <a:r>
              <a:rPr sz="1275" b="1">
                <a:solidFill>
                  <a:srgbClr val="89CEFF"/>
                </a:solidFill>
              </a:rPr>
              <a:t>Product scope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8652CD1-EDF5-422F-8CA9-8A7D3DF44BF2}"/>
              </a:ext>
            </a:extLst>
          </p:cNvPr>
          <p:cNvSpPr>
            <a:spLocks noGrp="1"/>
          </p:cNvSpPr>
          <p:nvPr/>
        </p:nvSpPr>
        <p:spPr>
          <a:xfrm>
            <a:off x="838200" y="1123950"/>
            <a:ext cx="166116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800" b="1">
                <a:solidFill>
                  <a:srgbClr val="DAE2FD"/>
                </a:solidFill>
              </a:defRPr>
            </a:pPr>
            <a:r>
              <a:rPr lang="ru-RU" sz="4800" b="1" dirty="0">
                <a:solidFill>
                  <a:srgbClr val="DAE2FD"/>
                </a:solidFill>
              </a:rPr>
              <a:t>Один </a:t>
            </a:r>
            <a:r>
              <a:rPr lang="en-US" sz="4800" b="1" dirty="0">
                <a:solidFill>
                  <a:srgbClr val="DAE2FD"/>
                </a:solidFill>
              </a:rPr>
              <a:t>MVP, </a:t>
            </a:r>
            <a:r>
              <a:rPr lang="ru-RU" sz="4800" b="1" dirty="0">
                <a:solidFill>
                  <a:srgbClr val="DAE2FD"/>
                </a:solidFill>
              </a:rPr>
              <a:t>два режима</a:t>
            </a:r>
            <a:endParaRPr sz="4800" b="1" dirty="0">
              <a:solidFill>
                <a:srgbClr val="DAE2FD"/>
              </a:solidFill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38F9AB3-E3F2-4D43-A93A-AB93CB47A335}"/>
              </a:ext>
            </a:extLst>
          </p:cNvPr>
          <p:cNvSpPr>
            <a:spLocks noGrp="1"/>
          </p:cNvSpPr>
          <p:nvPr/>
        </p:nvSpPr>
        <p:spPr>
          <a:xfrm>
            <a:off x="838200" y="1962150"/>
            <a:ext cx="10782300" cy="628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025">
                <a:solidFill>
                  <a:srgbClr val="CBC3D7"/>
                </a:solidFill>
              </a:defRPr>
            </a:pPr>
            <a:r>
              <a:rPr lang="ru-RU" sz="2025" dirty="0">
                <a:solidFill>
                  <a:srgbClr val="CBC3D7"/>
                </a:solidFill>
              </a:rPr>
              <a:t>Публичный режим – для присоединения к комнатам, просмотра отчетов, доступных квизов и магазина, профессиональный – для организаторов, создания квизов и их администрирования</a:t>
            </a:r>
            <a:endParaRPr sz="2025" dirty="0">
              <a:solidFill>
                <a:srgbClr val="CBC3D7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BD8DDEA2-73E2-4E03-A753-0AE5593A1EA6}"/>
              </a:ext>
            </a:extLst>
          </p:cNvPr>
          <p:cNvSpPr>
            <a:spLocks noGrp="1"/>
          </p:cNvSpPr>
          <p:nvPr/>
        </p:nvSpPr>
        <p:spPr>
          <a:xfrm>
            <a:off x="838200" y="2948940"/>
            <a:ext cx="5359400" cy="6728460"/>
          </a:xfrm>
          <a:prstGeom prst="roundRect">
            <a:avLst>
              <a:gd name="adj" fmla="val 4265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43" name="Прямоугольник: скругленные углы 42">
            <a:extLst>
              <a:ext uri="{FF2B5EF4-FFF2-40B4-BE49-F238E27FC236}">
                <a16:creationId xmlns:a16="http://schemas.microsoft.com/office/drawing/2014/main" id="{32475C02-449D-9BFB-CCC1-1FE272852578}"/>
              </a:ext>
            </a:extLst>
          </p:cNvPr>
          <p:cNvSpPr>
            <a:spLocks noGrp="1"/>
          </p:cNvSpPr>
          <p:nvPr/>
        </p:nvSpPr>
        <p:spPr>
          <a:xfrm>
            <a:off x="1146668" y="8358978"/>
            <a:ext cx="4765182" cy="912334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8F601DB-A9E1-4BC1-96E3-12EF3746C6FE}"/>
              </a:ext>
            </a:extLst>
          </p:cNvPr>
          <p:cNvSpPr>
            <a:spLocks noGrp="1"/>
          </p:cNvSpPr>
          <p:nvPr/>
        </p:nvSpPr>
        <p:spPr>
          <a:xfrm>
            <a:off x="1123950" y="3238500"/>
            <a:ext cx="4781550" cy="438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850" b="1">
                <a:solidFill>
                  <a:srgbClr val="DAE2FD"/>
                </a:solidFill>
              </a:defRPr>
            </a:pPr>
            <a:r>
              <a:rPr lang="ru-RU" sz="2850" b="1" dirty="0">
                <a:solidFill>
                  <a:srgbClr val="DAE2FD"/>
                </a:solidFill>
              </a:rPr>
              <a:t>Публичная платформа</a:t>
            </a:r>
            <a:endParaRPr sz="2850" b="1" dirty="0">
              <a:solidFill>
                <a:srgbClr val="DAE2FD"/>
              </a:solidFill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CD194C2-34D0-4B08-B00B-2D901B5B9724}"/>
              </a:ext>
            </a:extLst>
          </p:cNvPr>
          <p:cNvSpPr>
            <a:spLocks noGrp="1"/>
          </p:cNvSpPr>
          <p:nvPr/>
        </p:nvSpPr>
        <p:spPr>
          <a:xfrm>
            <a:off x="1123950" y="3886200"/>
            <a:ext cx="47815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CBC3D7"/>
                </a:solidFill>
              </a:defRPr>
            </a:pPr>
            <a:r>
              <a:rPr lang="ru-RU" sz="1800" dirty="0">
                <a:solidFill>
                  <a:srgbClr val="CBC3D7"/>
                </a:solidFill>
              </a:rPr>
              <a:t>Исследуйте квизы, изучайте отчеты, покупайте эмодзи, присоединяйтесь к квизам по коду</a:t>
            </a:r>
            <a:endParaRPr sz="1800" dirty="0">
              <a:solidFill>
                <a:srgbClr val="CBC3D7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2E22CF0-1D4C-4041-99D1-BEEDAA0C60A2}"/>
              </a:ext>
            </a:extLst>
          </p:cNvPr>
          <p:cNvSpPr>
            <a:spLocks noGrp="1"/>
          </p:cNvSpPr>
          <p:nvPr/>
        </p:nvSpPr>
        <p:spPr>
          <a:xfrm>
            <a:off x="1123950" y="4629150"/>
            <a:ext cx="4781550" cy="19050"/>
          </a:xfrm>
          <a:prstGeom prst="rect">
            <a:avLst/>
          </a:prstGeom>
          <a:solidFill>
            <a:srgbClr val="2D3449"/>
          </a:solidFill>
          <a:ln w="0">
            <a:solidFill>
              <a:srgbClr val="2D3449"/>
            </a:solidFill>
            <a:prstDash val="solid"/>
          </a:ln>
        </p:spPr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A3188A1F-2F4C-4005-8E27-5E1F1C1D058B}"/>
              </a:ext>
            </a:extLst>
          </p:cNvPr>
          <p:cNvSpPr>
            <a:spLocks noGrp="1"/>
          </p:cNvSpPr>
          <p:nvPr/>
        </p:nvSpPr>
        <p:spPr>
          <a:xfrm>
            <a:off x="1123950" y="5034020"/>
            <a:ext cx="4765182" cy="912334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CF91987-336E-42FB-AAF5-76445F8B8876}"/>
              </a:ext>
            </a:extLst>
          </p:cNvPr>
          <p:cNvSpPr>
            <a:spLocks noGrp="1"/>
          </p:cNvSpPr>
          <p:nvPr/>
        </p:nvSpPr>
        <p:spPr>
          <a:xfrm>
            <a:off x="2803693" y="5220664"/>
            <a:ext cx="4102200" cy="456167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lang="en-US" sz="3000" b="1" dirty="0">
                <a:solidFill>
                  <a:srgbClr val="D0BCFF"/>
                </a:solidFill>
              </a:rPr>
              <a:t>Explore</a:t>
            </a:r>
            <a:endParaRPr sz="3000" b="1" dirty="0">
              <a:solidFill>
                <a:srgbClr val="D0BC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7B032EFB-2F2B-4DA6-8D0A-D53456334B0A}"/>
              </a:ext>
            </a:extLst>
          </p:cNvPr>
          <p:cNvSpPr>
            <a:spLocks noGrp="1"/>
          </p:cNvSpPr>
          <p:nvPr/>
        </p:nvSpPr>
        <p:spPr>
          <a:xfrm>
            <a:off x="1146668" y="6141559"/>
            <a:ext cx="4765182" cy="912334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8CC618E-7341-41BB-80AA-0121A51EB131}"/>
              </a:ext>
            </a:extLst>
          </p:cNvPr>
          <p:cNvSpPr>
            <a:spLocks noGrp="1"/>
          </p:cNvSpPr>
          <p:nvPr/>
        </p:nvSpPr>
        <p:spPr>
          <a:xfrm>
            <a:off x="2863700" y="6409854"/>
            <a:ext cx="4102200" cy="456167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sz="3000" b="1" dirty="0">
                <a:solidFill>
                  <a:srgbClr val="D0BCFF"/>
                </a:solidFill>
              </a:rPr>
              <a:t>Library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6CEC9E4B-6F6D-4053-AC49-CDE4AEA16447}"/>
              </a:ext>
            </a:extLst>
          </p:cNvPr>
          <p:cNvSpPr>
            <a:spLocks noGrp="1"/>
          </p:cNvSpPr>
          <p:nvPr/>
        </p:nvSpPr>
        <p:spPr>
          <a:xfrm>
            <a:off x="1123950" y="7251439"/>
            <a:ext cx="4765182" cy="912334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9D73096-7E36-4241-B316-F55C8F49076C}"/>
              </a:ext>
            </a:extLst>
          </p:cNvPr>
          <p:cNvSpPr>
            <a:spLocks noGrp="1"/>
          </p:cNvSpPr>
          <p:nvPr/>
        </p:nvSpPr>
        <p:spPr>
          <a:xfrm>
            <a:off x="2803693" y="7490368"/>
            <a:ext cx="4102200" cy="456167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sz="3000" b="1" dirty="0">
                <a:solidFill>
                  <a:srgbClr val="D0BCFF"/>
                </a:solidFill>
              </a:rPr>
              <a:t>Reports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F450426-06CB-4DEE-8FDE-672C5CFDC722}"/>
              </a:ext>
            </a:extLst>
          </p:cNvPr>
          <p:cNvSpPr>
            <a:spLocks noGrp="1"/>
          </p:cNvSpPr>
          <p:nvPr/>
        </p:nvSpPr>
        <p:spPr>
          <a:xfrm>
            <a:off x="2488206" y="8624530"/>
            <a:ext cx="4102200" cy="456167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sz="3000" b="1" dirty="0">
                <a:solidFill>
                  <a:srgbClr val="D0BCFF"/>
                </a:solidFill>
              </a:rPr>
              <a:t>Marketplace</a:t>
            </a: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9ECD5D58-660A-4180-AB2A-DE58E3586CC2}"/>
              </a:ext>
            </a:extLst>
          </p:cNvPr>
          <p:cNvSpPr>
            <a:spLocks noGrp="1"/>
          </p:cNvSpPr>
          <p:nvPr/>
        </p:nvSpPr>
        <p:spPr>
          <a:xfrm>
            <a:off x="6464300" y="2948940"/>
            <a:ext cx="5359400" cy="6728460"/>
          </a:xfrm>
          <a:prstGeom prst="roundRect">
            <a:avLst>
              <a:gd name="adj" fmla="val 4265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ECFC0233-2E4F-4E54-B99F-E6FF24A45B8A}"/>
              </a:ext>
            </a:extLst>
          </p:cNvPr>
          <p:cNvSpPr>
            <a:spLocks noGrp="1"/>
          </p:cNvSpPr>
          <p:nvPr/>
        </p:nvSpPr>
        <p:spPr>
          <a:xfrm>
            <a:off x="6743700" y="3238500"/>
            <a:ext cx="4781550" cy="438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850" b="1">
                <a:solidFill>
                  <a:srgbClr val="DAE2FD"/>
                </a:solidFill>
              </a:defRPr>
            </a:pPr>
            <a:r>
              <a:rPr lang="ru-RU" sz="2850" b="1" dirty="0">
                <a:solidFill>
                  <a:srgbClr val="DAE2FD"/>
                </a:solidFill>
              </a:rPr>
              <a:t>Профессиональный режим</a:t>
            </a:r>
            <a:endParaRPr sz="2850" b="1" dirty="0">
              <a:solidFill>
                <a:srgbClr val="DAE2FD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EB1CF78-C1A9-481E-BD83-362DB751E52A}"/>
              </a:ext>
            </a:extLst>
          </p:cNvPr>
          <p:cNvSpPr>
            <a:spLocks noGrp="1"/>
          </p:cNvSpPr>
          <p:nvPr/>
        </p:nvSpPr>
        <p:spPr>
          <a:xfrm>
            <a:off x="6743700" y="3886200"/>
            <a:ext cx="47815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CBC3D7"/>
                </a:solidFill>
              </a:defRPr>
            </a:pPr>
            <a:r>
              <a:rPr lang="ru-RU" sz="1800" dirty="0">
                <a:solidFill>
                  <a:srgbClr val="CBC3D7"/>
                </a:solidFill>
              </a:rPr>
              <a:t>Создавайте опросы, настраивайте правила, запускайте квизы и управляйте их ходом</a:t>
            </a:r>
            <a:endParaRPr sz="1800" dirty="0">
              <a:solidFill>
                <a:srgbClr val="CBC3D7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6DBE9C66-9E76-4C84-91CB-A092A79A651A}"/>
              </a:ext>
            </a:extLst>
          </p:cNvPr>
          <p:cNvSpPr>
            <a:spLocks noGrp="1"/>
          </p:cNvSpPr>
          <p:nvPr/>
        </p:nvSpPr>
        <p:spPr>
          <a:xfrm>
            <a:off x="6743700" y="4629150"/>
            <a:ext cx="4781550" cy="19050"/>
          </a:xfrm>
          <a:prstGeom prst="rect">
            <a:avLst/>
          </a:prstGeom>
          <a:solidFill>
            <a:srgbClr val="2D3449"/>
          </a:solidFill>
          <a:ln w="0">
            <a:solidFill>
              <a:srgbClr val="2D3449"/>
            </a:solidFill>
            <a:prstDash val="solid"/>
          </a:ln>
        </p:spPr>
      </p:sp>
      <p:sp>
        <p:nvSpPr>
          <p:cNvPr id="22" name="Прямоугольник: скругленные углы 21">
            <a:extLst>
              <a:ext uri="{FF2B5EF4-FFF2-40B4-BE49-F238E27FC236}">
                <a16:creationId xmlns:a16="http://schemas.microsoft.com/office/drawing/2014/main" id="{3C9629A0-4A2E-41D9-84E6-071476C6C3D0}"/>
              </a:ext>
            </a:extLst>
          </p:cNvPr>
          <p:cNvSpPr>
            <a:spLocks noGrp="1"/>
          </p:cNvSpPr>
          <p:nvPr/>
        </p:nvSpPr>
        <p:spPr>
          <a:xfrm>
            <a:off x="6750050" y="5034020"/>
            <a:ext cx="4765182" cy="912334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A0B8CF41-848F-42A8-8B12-FDE3E5949D82}"/>
              </a:ext>
            </a:extLst>
          </p:cNvPr>
          <p:cNvSpPr>
            <a:spLocks noGrp="1"/>
          </p:cNvSpPr>
          <p:nvPr/>
        </p:nvSpPr>
        <p:spPr>
          <a:xfrm>
            <a:off x="8425814" y="5265489"/>
            <a:ext cx="4102200" cy="456167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sz="3000" b="1" dirty="0">
                <a:solidFill>
                  <a:srgbClr val="D0BCFF"/>
                </a:solidFill>
              </a:rPr>
              <a:t>Builder</a:t>
            </a:r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2278D168-B2BB-49A4-8653-62B5004D7646}"/>
              </a:ext>
            </a:extLst>
          </p:cNvPr>
          <p:cNvSpPr>
            <a:spLocks noGrp="1"/>
          </p:cNvSpPr>
          <p:nvPr/>
        </p:nvSpPr>
        <p:spPr>
          <a:xfrm>
            <a:off x="6772768" y="6141559"/>
            <a:ext cx="4765182" cy="912334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0A46C17E-12C4-45AE-8CC7-DD3A6FE317F2}"/>
              </a:ext>
            </a:extLst>
          </p:cNvPr>
          <p:cNvSpPr>
            <a:spLocks noGrp="1"/>
          </p:cNvSpPr>
          <p:nvPr/>
        </p:nvSpPr>
        <p:spPr>
          <a:xfrm>
            <a:off x="8305800" y="6332174"/>
            <a:ext cx="4102200" cy="456167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sz="3000" b="1">
                <a:solidFill>
                  <a:srgbClr val="D0BCFF"/>
                </a:solidFill>
              </a:rPr>
              <a:t>Room host</a:t>
            </a:r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837EA067-5DAD-477B-A40E-C6AE34C9BB35}"/>
              </a:ext>
            </a:extLst>
          </p:cNvPr>
          <p:cNvSpPr>
            <a:spLocks noGrp="1"/>
          </p:cNvSpPr>
          <p:nvPr/>
        </p:nvSpPr>
        <p:spPr>
          <a:xfrm>
            <a:off x="6750050" y="7251439"/>
            <a:ext cx="4765182" cy="912334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0C03E9B-9BAE-4B1A-844B-7BD479BF6DC6}"/>
              </a:ext>
            </a:extLst>
          </p:cNvPr>
          <p:cNvSpPr>
            <a:spLocks noGrp="1"/>
          </p:cNvSpPr>
          <p:nvPr/>
        </p:nvSpPr>
        <p:spPr>
          <a:xfrm>
            <a:off x="8196090" y="7478352"/>
            <a:ext cx="4102200" cy="456167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sz="3000" b="1">
                <a:solidFill>
                  <a:srgbClr val="D0BCFF"/>
                </a:solidFill>
              </a:rPr>
              <a:t>Leaderboard</a:t>
            </a:r>
          </a:p>
        </p:txBody>
      </p: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92DDE709-2746-4422-9DBB-6100AD3C7D55}"/>
              </a:ext>
            </a:extLst>
          </p:cNvPr>
          <p:cNvSpPr>
            <a:spLocks noGrp="1"/>
          </p:cNvSpPr>
          <p:nvPr/>
        </p:nvSpPr>
        <p:spPr>
          <a:xfrm>
            <a:off x="6772768" y="8378028"/>
            <a:ext cx="4765182" cy="912334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0F49378-231A-46A0-9B3D-63A2FBA7B2C8}"/>
              </a:ext>
            </a:extLst>
          </p:cNvPr>
          <p:cNvSpPr>
            <a:spLocks noGrp="1"/>
          </p:cNvSpPr>
          <p:nvPr/>
        </p:nvSpPr>
        <p:spPr>
          <a:xfrm>
            <a:off x="8425814" y="8624530"/>
            <a:ext cx="4102200" cy="456167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sz="3000" b="1" dirty="0">
                <a:solidFill>
                  <a:srgbClr val="D0BCFF"/>
                </a:solidFill>
              </a:rPr>
              <a:t>History</a:t>
            </a:r>
          </a:p>
        </p:txBody>
      </p:sp>
      <p:sp>
        <p:nvSpPr>
          <p:cNvPr id="30" name="Прямоугольник: скругленные углы 29">
            <a:extLst>
              <a:ext uri="{FF2B5EF4-FFF2-40B4-BE49-F238E27FC236}">
                <a16:creationId xmlns:a16="http://schemas.microsoft.com/office/drawing/2014/main" id="{500A2B8B-5150-444E-AFD9-90979F8BAB18}"/>
              </a:ext>
            </a:extLst>
          </p:cNvPr>
          <p:cNvSpPr>
            <a:spLocks noGrp="1"/>
          </p:cNvSpPr>
          <p:nvPr/>
        </p:nvSpPr>
        <p:spPr>
          <a:xfrm>
            <a:off x="12090400" y="2948940"/>
            <a:ext cx="5359400" cy="6728460"/>
          </a:xfrm>
          <a:prstGeom prst="roundRect">
            <a:avLst>
              <a:gd name="adj" fmla="val 4265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CE77A88-22F3-4770-AB0A-02A39E937DF5}"/>
              </a:ext>
            </a:extLst>
          </p:cNvPr>
          <p:cNvSpPr>
            <a:spLocks noGrp="1"/>
          </p:cNvSpPr>
          <p:nvPr/>
        </p:nvSpPr>
        <p:spPr>
          <a:xfrm>
            <a:off x="12382500" y="3238500"/>
            <a:ext cx="4781550" cy="438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850" b="1">
                <a:solidFill>
                  <a:srgbClr val="DAE2FD"/>
                </a:solidFill>
              </a:defRPr>
            </a:pPr>
            <a:r>
              <a:rPr lang="ru-RU" sz="2850" b="1" dirty="0">
                <a:solidFill>
                  <a:srgbClr val="DAE2FD"/>
                </a:solidFill>
              </a:rPr>
              <a:t>Геймплей реального времени</a:t>
            </a:r>
            <a:endParaRPr sz="2850" b="1" dirty="0">
              <a:solidFill>
                <a:srgbClr val="DAE2FD"/>
              </a:solidFill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88605EDC-2330-454D-8997-1B480A815A5A}"/>
              </a:ext>
            </a:extLst>
          </p:cNvPr>
          <p:cNvSpPr>
            <a:spLocks noGrp="1"/>
          </p:cNvSpPr>
          <p:nvPr/>
        </p:nvSpPr>
        <p:spPr>
          <a:xfrm>
            <a:off x="12382500" y="3886200"/>
            <a:ext cx="47815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CBC3D7"/>
                </a:solidFill>
              </a:defRPr>
            </a:pPr>
            <a:r>
              <a:rPr lang="ru-RU" sz="1800" dirty="0">
                <a:solidFill>
                  <a:srgbClr val="CBC3D7"/>
                </a:solidFill>
              </a:rPr>
              <a:t>Участники видят только активный вопрос и могут отвечать на него только пока он активен</a:t>
            </a:r>
            <a:endParaRPr sz="1800" dirty="0">
              <a:solidFill>
                <a:srgbClr val="CBC3D7"/>
              </a:solidFill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00C9D31-E030-4C2B-A075-5EADDC7447B5}"/>
              </a:ext>
            </a:extLst>
          </p:cNvPr>
          <p:cNvSpPr>
            <a:spLocks noGrp="1"/>
          </p:cNvSpPr>
          <p:nvPr/>
        </p:nvSpPr>
        <p:spPr>
          <a:xfrm>
            <a:off x="12382500" y="4629150"/>
            <a:ext cx="4781550" cy="19050"/>
          </a:xfrm>
          <a:prstGeom prst="rect">
            <a:avLst/>
          </a:prstGeom>
          <a:solidFill>
            <a:srgbClr val="2D3449"/>
          </a:solidFill>
          <a:ln w="0">
            <a:solidFill>
              <a:srgbClr val="2D3449"/>
            </a:solidFill>
            <a:prstDash val="solid"/>
          </a:ln>
        </p:spPr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4A0ED367-BE5D-446A-9A44-4E82237D3FA6}"/>
              </a:ext>
            </a:extLst>
          </p:cNvPr>
          <p:cNvSpPr>
            <a:spLocks noGrp="1"/>
          </p:cNvSpPr>
          <p:nvPr/>
        </p:nvSpPr>
        <p:spPr>
          <a:xfrm>
            <a:off x="12376150" y="5034020"/>
            <a:ext cx="4765182" cy="912334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2EAC3F04-53D3-46AC-9E07-64DA3580B65F}"/>
              </a:ext>
            </a:extLst>
          </p:cNvPr>
          <p:cNvSpPr>
            <a:spLocks noGrp="1"/>
          </p:cNvSpPr>
          <p:nvPr/>
        </p:nvSpPr>
        <p:spPr>
          <a:xfrm>
            <a:off x="13944600" y="5220664"/>
            <a:ext cx="4102200" cy="456167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sz="3000" b="1" dirty="0">
                <a:solidFill>
                  <a:srgbClr val="D0BCFF"/>
                </a:solidFill>
              </a:rPr>
              <a:t>Socket.IO</a:t>
            </a:r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B84A19AC-434F-471C-B8E0-473063D1B99B}"/>
              </a:ext>
            </a:extLst>
          </p:cNvPr>
          <p:cNvSpPr>
            <a:spLocks noGrp="1"/>
          </p:cNvSpPr>
          <p:nvPr/>
        </p:nvSpPr>
        <p:spPr>
          <a:xfrm>
            <a:off x="12398868" y="6141559"/>
            <a:ext cx="4765182" cy="912334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49D4E9B5-6807-4AF4-BF2F-FA2736CD85CC}"/>
              </a:ext>
            </a:extLst>
          </p:cNvPr>
          <p:cNvSpPr>
            <a:spLocks noGrp="1"/>
          </p:cNvSpPr>
          <p:nvPr/>
        </p:nvSpPr>
        <p:spPr>
          <a:xfrm>
            <a:off x="13944600" y="6332174"/>
            <a:ext cx="4102200" cy="456167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sz="3000" b="1" dirty="0">
                <a:solidFill>
                  <a:srgbClr val="D0BCFF"/>
                </a:solidFill>
              </a:rPr>
              <a:t>Timer lock</a:t>
            </a:r>
          </a:p>
        </p:txBody>
      </p:sp>
      <p:sp>
        <p:nvSpPr>
          <p:cNvPr id="38" name="Прямоугольник: скругленные углы 37">
            <a:extLst>
              <a:ext uri="{FF2B5EF4-FFF2-40B4-BE49-F238E27FC236}">
                <a16:creationId xmlns:a16="http://schemas.microsoft.com/office/drawing/2014/main" id="{63F710AB-EF7B-4E7A-A817-99BE623ABB53}"/>
              </a:ext>
            </a:extLst>
          </p:cNvPr>
          <p:cNvSpPr>
            <a:spLocks noGrp="1"/>
          </p:cNvSpPr>
          <p:nvPr/>
        </p:nvSpPr>
        <p:spPr>
          <a:xfrm>
            <a:off x="12376150" y="7251439"/>
            <a:ext cx="4765182" cy="912334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C84E9E6B-7115-4C80-8C10-768C6771EEDB}"/>
              </a:ext>
            </a:extLst>
          </p:cNvPr>
          <p:cNvSpPr>
            <a:spLocks noGrp="1"/>
          </p:cNvSpPr>
          <p:nvPr/>
        </p:nvSpPr>
        <p:spPr>
          <a:xfrm>
            <a:off x="13834890" y="7478352"/>
            <a:ext cx="4102200" cy="456167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sz="3000" b="1">
                <a:solidFill>
                  <a:srgbClr val="D0BCFF"/>
                </a:solidFill>
              </a:rPr>
              <a:t>Speed bonus</a:t>
            </a:r>
          </a:p>
        </p:txBody>
      </p:sp>
      <p:sp>
        <p:nvSpPr>
          <p:cNvPr id="40" name="Прямоугольник: скругленные углы 39">
            <a:extLst>
              <a:ext uri="{FF2B5EF4-FFF2-40B4-BE49-F238E27FC236}">
                <a16:creationId xmlns:a16="http://schemas.microsoft.com/office/drawing/2014/main" id="{C18EF674-3611-4483-A4F4-FD3C82CC00E0}"/>
              </a:ext>
            </a:extLst>
          </p:cNvPr>
          <p:cNvSpPr>
            <a:spLocks noGrp="1"/>
          </p:cNvSpPr>
          <p:nvPr/>
        </p:nvSpPr>
        <p:spPr>
          <a:xfrm>
            <a:off x="12398868" y="8378028"/>
            <a:ext cx="4765182" cy="912334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42096B14-43E3-42C5-92DB-8CA2A5491198}"/>
              </a:ext>
            </a:extLst>
          </p:cNvPr>
          <p:cNvSpPr>
            <a:spLocks noGrp="1"/>
          </p:cNvSpPr>
          <p:nvPr/>
        </p:nvSpPr>
        <p:spPr>
          <a:xfrm>
            <a:off x="13746756" y="8624530"/>
            <a:ext cx="4102200" cy="456167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sz="3000" b="1">
                <a:solidFill>
                  <a:srgbClr val="D0BCFF"/>
                </a:solidFill>
              </a:rPr>
              <a:t>Realtime state</a:t>
            </a:r>
          </a:p>
        </p:txBody>
      </p:sp>
    </p:spTree>
    <p:extLst>
      <p:ext uri="{BB962C8B-B14F-4D97-AF65-F5344CB8AC3E}">
        <p14:creationId xmlns:p14="http://schemas.microsoft.com/office/powerpoint/2010/main" val="302505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4588D4D5-E1C1-446A-9D04-DFAF4E8528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326"/>
          </a:solidFill>
        </p:spPr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29F5969F-5F9B-42C9-AEA4-EB259E54C76D}"/>
              </a:ext>
            </a:extLst>
          </p:cNvPr>
          <p:cNvSpPr>
            <a:spLocks noGrp="1"/>
          </p:cNvSpPr>
          <p:nvPr/>
        </p:nvSpPr>
        <p:spPr>
          <a:xfrm>
            <a:off x="838200" y="609600"/>
            <a:ext cx="2095500" cy="400050"/>
          </a:xfrm>
          <a:prstGeom prst="roundRect">
            <a:avLst>
              <a:gd name="adj" fmla="val 50000"/>
            </a:avLst>
          </a:prstGeom>
          <a:solidFill>
            <a:srgbClr val="D0BCFF">
              <a:alpha val="13333"/>
            </a:srgbClr>
          </a:solidFill>
          <a:ln w="9525">
            <a:solidFill>
              <a:srgbClr val="D0BCFF">
                <a:alpha val="40000"/>
              </a:srgbClr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52FAC471-0ACA-4A55-AC7E-3BE5B5FCDF91}"/>
              </a:ext>
            </a:extLst>
          </p:cNvPr>
          <p:cNvSpPr>
            <a:spLocks noGrp="1"/>
          </p:cNvSpPr>
          <p:nvPr/>
        </p:nvSpPr>
        <p:spPr>
          <a:xfrm>
            <a:off x="971550" y="685800"/>
            <a:ext cx="18288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D0BCFF"/>
                </a:solidFill>
              </a:defRPr>
            </a:pPr>
            <a:r>
              <a:rPr sz="1275" b="1">
                <a:solidFill>
                  <a:srgbClr val="D0BCFF"/>
                </a:solidFill>
              </a:rPr>
              <a:t>Database model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933C86D-8AE7-434F-A7B0-B54F84FD3DAF}"/>
              </a:ext>
            </a:extLst>
          </p:cNvPr>
          <p:cNvSpPr>
            <a:spLocks noGrp="1"/>
          </p:cNvSpPr>
          <p:nvPr/>
        </p:nvSpPr>
        <p:spPr>
          <a:xfrm>
            <a:off x="838199" y="1123950"/>
            <a:ext cx="14948971" cy="666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350" b="1">
                <a:solidFill>
                  <a:srgbClr val="DAE2FD"/>
                </a:solidFill>
              </a:defRPr>
            </a:pPr>
            <a:r>
              <a:rPr lang="ru-RU" sz="4350" b="1" dirty="0">
                <a:solidFill>
                  <a:srgbClr val="DAE2FD"/>
                </a:solidFill>
              </a:rPr>
              <a:t>Схема </a:t>
            </a:r>
            <a:r>
              <a:rPr lang="en-US" sz="4350" b="1" dirty="0">
                <a:solidFill>
                  <a:srgbClr val="DAE2FD"/>
                </a:solidFill>
              </a:rPr>
              <a:t>SQLite</a:t>
            </a:r>
            <a:endParaRPr sz="4350" b="1" dirty="0">
              <a:solidFill>
                <a:srgbClr val="DAE2FD"/>
              </a:solidFill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007AFB53-4F07-4797-B76E-D829788B7094}"/>
              </a:ext>
            </a:extLst>
          </p:cNvPr>
          <p:cNvSpPr>
            <a:spLocks noGrp="1"/>
          </p:cNvSpPr>
          <p:nvPr/>
        </p:nvSpPr>
        <p:spPr>
          <a:xfrm>
            <a:off x="838200" y="2110740"/>
            <a:ext cx="5410200" cy="2112010"/>
          </a:xfrm>
          <a:prstGeom prst="roundRect">
            <a:avLst>
              <a:gd name="adj" fmla="val 8118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963EB3E-5C4B-4E53-8F2B-3887B05D5849}"/>
              </a:ext>
            </a:extLst>
          </p:cNvPr>
          <p:cNvSpPr>
            <a:spLocks noGrp="1"/>
          </p:cNvSpPr>
          <p:nvPr/>
        </p:nvSpPr>
        <p:spPr>
          <a:xfrm>
            <a:off x="1047750" y="2838450"/>
            <a:ext cx="499110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325" b="1">
                <a:solidFill>
                  <a:srgbClr val="D0BCFF"/>
                </a:solidFill>
              </a:defRPr>
            </a:pPr>
            <a:r>
              <a:rPr sz="2325" b="1">
                <a:solidFill>
                  <a:srgbClr val="D0BCFF"/>
                </a:solidFill>
              </a:rPr>
              <a:t>users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96935C1-AF0D-4123-B90D-E90A3654B44C}"/>
              </a:ext>
            </a:extLst>
          </p:cNvPr>
          <p:cNvSpPr>
            <a:spLocks noGrp="1"/>
          </p:cNvSpPr>
          <p:nvPr/>
        </p:nvSpPr>
        <p:spPr>
          <a:xfrm>
            <a:off x="1047750" y="3276600"/>
            <a:ext cx="49911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CBC3D7"/>
                </a:solidFill>
              </a:defRPr>
            </a:pPr>
            <a:r>
              <a:rPr sz="1425">
                <a:solidFill>
                  <a:srgbClr val="CBC3D7"/>
                </a:solidFill>
              </a:rPr>
              <a:t>roles, wallet_points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655B09F6-590B-49C0-8B2C-B4A800ABC1A9}"/>
              </a:ext>
            </a:extLst>
          </p:cNvPr>
          <p:cNvSpPr>
            <a:spLocks noGrp="1"/>
          </p:cNvSpPr>
          <p:nvPr/>
        </p:nvSpPr>
        <p:spPr>
          <a:xfrm>
            <a:off x="6438900" y="2110740"/>
            <a:ext cx="5410200" cy="2112010"/>
          </a:xfrm>
          <a:prstGeom prst="roundRect">
            <a:avLst>
              <a:gd name="adj" fmla="val 8118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D54834D-4AD1-4088-8131-20B9F12F9B92}"/>
              </a:ext>
            </a:extLst>
          </p:cNvPr>
          <p:cNvSpPr>
            <a:spLocks noGrp="1"/>
          </p:cNvSpPr>
          <p:nvPr/>
        </p:nvSpPr>
        <p:spPr>
          <a:xfrm>
            <a:off x="6648450" y="2838450"/>
            <a:ext cx="499110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325" b="1">
                <a:solidFill>
                  <a:srgbClr val="D0BCFF"/>
                </a:solidFill>
              </a:defRPr>
            </a:pPr>
            <a:r>
              <a:rPr sz="2325" b="1">
                <a:solidFill>
                  <a:srgbClr val="D0BCFF"/>
                </a:solidFill>
              </a:rPr>
              <a:t>quizzes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49466F3-98E8-4CB0-A4E4-4979270EBAD5}"/>
              </a:ext>
            </a:extLst>
          </p:cNvPr>
          <p:cNvSpPr>
            <a:spLocks noGrp="1"/>
          </p:cNvSpPr>
          <p:nvPr/>
        </p:nvSpPr>
        <p:spPr>
          <a:xfrm>
            <a:off x="6648450" y="3276600"/>
            <a:ext cx="49911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CBC3D7"/>
                </a:solidFill>
              </a:defRPr>
            </a:pPr>
            <a:r>
              <a:rPr sz="1425">
                <a:solidFill>
                  <a:srgbClr val="CBC3D7"/>
                </a:solidFill>
              </a:rPr>
              <a:t>title, category, rules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96D7B24A-A276-4669-824B-D686D5272184}"/>
              </a:ext>
            </a:extLst>
          </p:cNvPr>
          <p:cNvSpPr>
            <a:spLocks noGrp="1"/>
          </p:cNvSpPr>
          <p:nvPr/>
        </p:nvSpPr>
        <p:spPr>
          <a:xfrm>
            <a:off x="12039600" y="2110740"/>
            <a:ext cx="5410200" cy="2112010"/>
          </a:xfrm>
          <a:prstGeom prst="roundRect">
            <a:avLst>
              <a:gd name="adj" fmla="val 8118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99F762C-8E9C-4539-8430-2C15EADF957E}"/>
              </a:ext>
            </a:extLst>
          </p:cNvPr>
          <p:cNvSpPr>
            <a:spLocks noGrp="1"/>
          </p:cNvSpPr>
          <p:nvPr/>
        </p:nvSpPr>
        <p:spPr>
          <a:xfrm>
            <a:off x="12249150" y="2838450"/>
            <a:ext cx="499110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325" b="1">
                <a:solidFill>
                  <a:srgbClr val="D0BCFF"/>
                </a:solidFill>
              </a:defRPr>
            </a:pPr>
            <a:r>
              <a:rPr sz="2325" b="1">
                <a:solidFill>
                  <a:srgbClr val="D0BCFF"/>
                </a:solidFill>
              </a:rPr>
              <a:t>questions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416F46B-1B34-4D41-9E79-673B8DF754B3}"/>
              </a:ext>
            </a:extLst>
          </p:cNvPr>
          <p:cNvSpPr>
            <a:spLocks noGrp="1"/>
          </p:cNvSpPr>
          <p:nvPr/>
        </p:nvSpPr>
        <p:spPr>
          <a:xfrm>
            <a:off x="12249150" y="3276600"/>
            <a:ext cx="49911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CBC3D7"/>
                </a:solidFill>
              </a:defRPr>
            </a:pPr>
            <a:r>
              <a:rPr sz="1425">
                <a:solidFill>
                  <a:srgbClr val="CBC3D7"/>
                </a:solidFill>
              </a:rPr>
              <a:t>prompt, media, timer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3CABA50F-A982-4A7B-8FAD-FDBA03FA8911}"/>
              </a:ext>
            </a:extLst>
          </p:cNvPr>
          <p:cNvSpPr>
            <a:spLocks noGrp="1"/>
          </p:cNvSpPr>
          <p:nvPr/>
        </p:nvSpPr>
        <p:spPr>
          <a:xfrm>
            <a:off x="838200" y="4413250"/>
            <a:ext cx="5410200" cy="2112010"/>
          </a:xfrm>
          <a:prstGeom prst="roundRect">
            <a:avLst>
              <a:gd name="adj" fmla="val 8118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F19661A-C810-4A8C-951C-25BD1733906F}"/>
              </a:ext>
            </a:extLst>
          </p:cNvPr>
          <p:cNvSpPr>
            <a:spLocks noGrp="1"/>
          </p:cNvSpPr>
          <p:nvPr/>
        </p:nvSpPr>
        <p:spPr>
          <a:xfrm>
            <a:off x="1047750" y="5143500"/>
            <a:ext cx="499110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325" b="1">
                <a:solidFill>
                  <a:srgbClr val="D0BCFF"/>
                </a:solidFill>
              </a:defRPr>
            </a:pPr>
            <a:r>
              <a:rPr sz="2325" b="1">
                <a:solidFill>
                  <a:srgbClr val="D0BCFF"/>
                </a:solidFill>
              </a:rPr>
              <a:t>options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BBDAF63-0946-45BD-B306-9161C87CA2FE}"/>
              </a:ext>
            </a:extLst>
          </p:cNvPr>
          <p:cNvSpPr>
            <a:spLocks noGrp="1"/>
          </p:cNvSpPr>
          <p:nvPr/>
        </p:nvSpPr>
        <p:spPr>
          <a:xfrm>
            <a:off x="1047750" y="5581650"/>
            <a:ext cx="49911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CBC3D7"/>
                </a:solidFill>
              </a:defRPr>
            </a:pPr>
            <a:r>
              <a:rPr sz="1425">
                <a:solidFill>
                  <a:srgbClr val="CBC3D7"/>
                </a:solidFill>
              </a:rPr>
              <a:t>answers, correctness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A0484933-F4B0-4495-8AA6-8AD95698D8DC}"/>
              </a:ext>
            </a:extLst>
          </p:cNvPr>
          <p:cNvSpPr>
            <a:spLocks noGrp="1"/>
          </p:cNvSpPr>
          <p:nvPr/>
        </p:nvSpPr>
        <p:spPr>
          <a:xfrm>
            <a:off x="6438900" y="4413250"/>
            <a:ext cx="5410200" cy="2112010"/>
          </a:xfrm>
          <a:prstGeom prst="roundRect">
            <a:avLst>
              <a:gd name="adj" fmla="val 8118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BD2BD444-B50B-4F5E-B3D6-562F9C4F3236}"/>
              </a:ext>
            </a:extLst>
          </p:cNvPr>
          <p:cNvSpPr>
            <a:spLocks noGrp="1"/>
          </p:cNvSpPr>
          <p:nvPr/>
        </p:nvSpPr>
        <p:spPr>
          <a:xfrm>
            <a:off x="6648450" y="5143500"/>
            <a:ext cx="499110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325" b="1">
                <a:solidFill>
                  <a:srgbClr val="D0BCFF"/>
                </a:solidFill>
              </a:defRPr>
            </a:pPr>
            <a:r>
              <a:rPr sz="2325" b="1">
                <a:solidFill>
                  <a:srgbClr val="D0BCFF"/>
                </a:solidFill>
              </a:rPr>
              <a:t>rooms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F306D7F-9EFF-401B-A75C-4B463C5CD3CF}"/>
              </a:ext>
            </a:extLst>
          </p:cNvPr>
          <p:cNvSpPr>
            <a:spLocks noGrp="1"/>
          </p:cNvSpPr>
          <p:nvPr/>
        </p:nvSpPr>
        <p:spPr>
          <a:xfrm>
            <a:off x="6648450" y="5581650"/>
            <a:ext cx="49911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CBC3D7"/>
                </a:solidFill>
              </a:defRPr>
            </a:pPr>
            <a:r>
              <a:rPr sz="1425">
                <a:solidFill>
                  <a:srgbClr val="CBC3D7"/>
                </a:solidFill>
              </a:rPr>
              <a:t>code, status, current question</a:t>
            </a: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C87C4AAD-C0C2-46AA-A816-B99272743051}"/>
              </a:ext>
            </a:extLst>
          </p:cNvPr>
          <p:cNvSpPr>
            <a:spLocks noGrp="1"/>
          </p:cNvSpPr>
          <p:nvPr/>
        </p:nvSpPr>
        <p:spPr>
          <a:xfrm>
            <a:off x="12039600" y="4413250"/>
            <a:ext cx="5410200" cy="2112010"/>
          </a:xfrm>
          <a:prstGeom prst="roundRect">
            <a:avLst>
              <a:gd name="adj" fmla="val 8118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1535583-A040-4102-BBE7-4A9FE619FC11}"/>
              </a:ext>
            </a:extLst>
          </p:cNvPr>
          <p:cNvSpPr>
            <a:spLocks noGrp="1"/>
          </p:cNvSpPr>
          <p:nvPr/>
        </p:nvSpPr>
        <p:spPr>
          <a:xfrm>
            <a:off x="12249150" y="5143500"/>
            <a:ext cx="499110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325" b="1">
                <a:solidFill>
                  <a:srgbClr val="D0BCFF"/>
                </a:solidFill>
              </a:defRPr>
            </a:pPr>
            <a:r>
              <a:rPr sz="2325" b="1">
                <a:solidFill>
                  <a:srgbClr val="D0BCFF"/>
                </a:solidFill>
              </a:rPr>
              <a:t>room_participants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04DA223-4393-4941-9400-186CD6539009}"/>
              </a:ext>
            </a:extLst>
          </p:cNvPr>
          <p:cNvSpPr>
            <a:spLocks noGrp="1"/>
          </p:cNvSpPr>
          <p:nvPr/>
        </p:nvSpPr>
        <p:spPr>
          <a:xfrm>
            <a:off x="12249150" y="5581650"/>
            <a:ext cx="49911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CBC3D7"/>
                </a:solidFill>
              </a:defRPr>
            </a:pPr>
            <a:r>
              <a:rPr sz="1425">
                <a:solidFill>
                  <a:srgbClr val="CBC3D7"/>
                </a:solidFill>
              </a:rPr>
              <a:t>display name, score</a:t>
            </a:r>
          </a:p>
        </p:txBody>
      </p:sp>
      <p:sp>
        <p:nvSpPr>
          <p:cNvPr id="23" name="Прямоугольник: скругленные углы 22">
            <a:extLst>
              <a:ext uri="{FF2B5EF4-FFF2-40B4-BE49-F238E27FC236}">
                <a16:creationId xmlns:a16="http://schemas.microsoft.com/office/drawing/2014/main" id="{A0C54FAF-DB36-4141-BD50-DAD73498FBB5}"/>
              </a:ext>
            </a:extLst>
          </p:cNvPr>
          <p:cNvSpPr>
            <a:spLocks noGrp="1"/>
          </p:cNvSpPr>
          <p:nvPr/>
        </p:nvSpPr>
        <p:spPr>
          <a:xfrm>
            <a:off x="838200" y="6715760"/>
            <a:ext cx="5410200" cy="2112010"/>
          </a:xfrm>
          <a:prstGeom prst="roundRect">
            <a:avLst>
              <a:gd name="adj" fmla="val 8118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4CE1884-6184-4FCE-B582-691ACE09CC6E}"/>
              </a:ext>
            </a:extLst>
          </p:cNvPr>
          <p:cNvSpPr>
            <a:spLocks noGrp="1"/>
          </p:cNvSpPr>
          <p:nvPr/>
        </p:nvSpPr>
        <p:spPr>
          <a:xfrm>
            <a:off x="1047750" y="7429500"/>
            <a:ext cx="499110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325" b="1">
                <a:solidFill>
                  <a:srgbClr val="D0BCFF"/>
                </a:solidFill>
              </a:defRPr>
            </a:pPr>
            <a:r>
              <a:rPr sz="2325" b="1">
                <a:solidFill>
                  <a:srgbClr val="D0BCFF"/>
                </a:solidFill>
              </a:rPr>
              <a:t>responses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874FC27-AFB2-40F9-AF04-A522D08F9039}"/>
              </a:ext>
            </a:extLst>
          </p:cNvPr>
          <p:cNvSpPr>
            <a:spLocks noGrp="1"/>
          </p:cNvSpPr>
          <p:nvPr/>
        </p:nvSpPr>
        <p:spPr>
          <a:xfrm>
            <a:off x="1047750" y="7886700"/>
            <a:ext cx="49911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CBC3D7"/>
                </a:solidFill>
              </a:defRPr>
            </a:pPr>
            <a:r>
              <a:rPr sz="1425">
                <a:solidFill>
                  <a:srgbClr val="CBC3D7"/>
                </a:solidFill>
              </a:rPr>
              <a:t>selected options, points</a:t>
            </a:r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356E625A-3FE8-4ADE-B087-613CB867F487}"/>
              </a:ext>
            </a:extLst>
          </p:cNvPr>
          <p:cNvSpPr>
            <a:spLocks noGrp="1"/>
          </p:cNvSpPr>
          <p:nvPr/>
        </p:nvSpPr>
        <p:spPr>
          <a:xfrm>
            <a:off x="6438900" y="6715760"/>
            <a:ext cx="5410200" cy="2112010"/>
          </a:xfrm>
          <a:prstGeom prst="roundRect">
            <a:avLst>
              <a:gd name="adj" fmla="val 8118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A0E9AB6-AF50-40D1-ACFD-75ECC79F3A58}"/>
              </a:ext>
            </a:extLst>
          </p:cNvPr>
          <p:cNvSpPr>
            <a:spLocks noGrp="1"/>
          </p:cNvSpPr>
          <p:nvPr/>
        </p:nvSpPr>
        <p:spPr>
          <a:xfrm>
            <a:off x="6648450" y="7429500"/>
            <a:ext cx="499110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325" b="1">
                <a:solidFill>
                  <a:srgbClr val="D0BCFF"/>
                </a:solidFill>
              </a:defRPr>
            </a:pPr>
            <a:r>
              <a:rPr sz="2325" b="1">
                <a:solidFill>
                  <a:srgbClr val="D0BCFF"/>
                </a:solidFill>
              </a:rPr>
              <a:t>marketplace_items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CB198E8D-E491-4565-9337-400BABC81035}"/>
              </a:ext>
            </a:extLst>
          </p:cNvPr>
          <p:cNvSpPr>
            <a:spLocks noGrp="1"/>
          </p:cNvSpPr>
          <p:nvPr/>
        </p:nvSpPr>
        <p:spPr>
          <a:xfrm>
            <a:off x="6648450" y="7886700"/>
            <a:ext cx="49911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CBC3D7"/>
                </a:solidFill>
              </a:defRPr>
            </a:pPr>
            <a:r>
              <a:rPr sz="1425">
                <a:solidFill>
                  <a:srgbClr val="CBC3D7"/>
                </a:solidFill>
              </a:rPr>
              <a:t>emoji and reactions</a:t>
            </a:r>
          </a:p>
        </p:txBody>
      </p:sp>
      <p:sp>
        <p:nvSpPr>
          <p:cNvPr id="29" name="Прямоугольник: скругленные углы 28">
            <a:extLst>
              <a:ext uri="{FF2B5EF4-FFF2-40B4-BE49-F238E27FC236}">
                <a16:creationId xmlns:a16="http://schemas.microsoft.com/office/drawing/2014/main" id="{5B13B4F0-B088-4B44-AB60-D7261C6A3F72}"/>
              </a:ext>
            </a:extLst>
          </p:cNvPr>
          <p:cNvSpPr>
            <a:spLocks noGrp="1"/>
          </p:cNvSpPr>
          <p:nvPr/>
        </p:nvSpPr>
        <p:spPr>
          <a:xfrm>
            <a:off x="12039600" y="6715760"/>
            <a:ext cx="5410200" cy="2112010"/>
          </a:xfrm>
          <a:prstGeom prst="roundRect">
            <a:avLst>
              <a:gd name="adj" fmla="val 8118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C7289141-3937-40BB-9D8B-27EE0735B31A}"/>
              </a:ext>
            </a:extLst>
          </p:cNvPr>
          <p:cNvSpPr>
            <a:spLocks noGrp="1"/>
          </p:cNvSpPr>
          <p:nvPr/>
        </p:nvSpPr>
        <p:spPr>
          <a:xfrm>
            <a:off x="12249150" y="7429500"/>
            <a:ext cx="499110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325" b="1">
                <a:solidFill>
                  <a:srgbClr val="D0BCFF"/>
                </a:solidFill>
              </a:defRPr>
            </a:pPr>
            <a:r>
              <a:rPr sz="2325" b="1">
                <a:solidFill>
                  <a:srgbClr val="D0BCFF"/>
                </a:solidFill>
              </a:rPr>
              <a:t>wallet_events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699CD623-5CC0-42BC-896D-AC010E630D4F}"/>
              </a:ext>
            </a:extLst>
          </p:cNvPr>
          <p:cNvSpPr>
            <a:spLocks noGrp="1"/>
          </p:cNvSpPr>
          <p:nvPr/>
        </p:nvSpPr>
        <p:spPr>
          <a:xfrm>
            <a:off x="12249150" y="7886700"/>
            <a:ext cx="49911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CBC3D7"/>
                </a:solidFill>
              </a:defRPr>
            </a:pPr>
            <a:r>
              <a:rPr sz="1425">
                <a:solidFill>
                  <a:srgbClr val="CBC3D7"/>
                </a:solidFill>
              </a:rPr>
              <a:t>VP awards and purchases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0DADD265-BA47-4903-8906-397E8C677048}"/>
              </a:ext>
            </a:extLst>
          </p:cNvPr>
          <p:cNvSpPr>
            <a:spLocks noGrp="1"/>
          </p:cNvSpPr>
          <p:nvPr/>
        </p:nvSpPr>
        <p:spPr>
          <a:xfrm>
            <a:off x="838200" y="9144000"/>
            <a:ext cx="142303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958EA0"/>
                </a:solidFill>
              </a:defRPr>
            </a:pPr>
            <a:r>
              <a:rPr lang="ru-RU" sz="1725" dirty="0">
                <a:solidFill>
                  <a:srgbClr val="958EA0"/>
                </a:solidFill>
              </a:rPr>
              <a:t>Главные связи: </a:t>
            </a:r>
            <a:r>
              <a:rPr sz="1725" dirty="0">
                <a:solidFill>
                  <a:srgbClr val="958EA0"/>
                </a:solidFill>
              </a:rPr>
              <a:t>users create quizzes; quizzes launch rooms; rooms collect participants and responses; top placements write wallet events; users spend VP on marketplace items.</a:t>
            </a:r>
          </a:p>
        </p:txBody>
      </p:sp>
    </p:spTree>
    <p:extLst>
      <p:ext uri="{BB962C8B-B14F-4D97-AF65-F5344CB8AC3E}">
        <p14:creationId xmlns:p14="http://schemas.microsoft.com/office/powerpoint/2010/main" val="505597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73E03F7-2367-4DC6-9E40-C5453784B2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326"/>
          </a:solidFill>
        </p:spPr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9A503A50-7420-4437-A257-D882FAE4AF36}"/>
              </a:ext>
            </a:extLst>
          </p:cNvPr>
          <p:cNvSpPr>
            <a:spLocks noGrp="1"/>
          </p:cNvSpPr>
          <p:nvPr/>
        </p:nvSpPr>
        <p:spPr>
          <a:xfrm>
            <a:off x="838200" y="4021455"/>
            <a:ext cx="1847850" cy="400050"/>
          </a:xfrm>
          <a:prstGeom prst="roundRect">
            <a:avLst>
              <a:gd name="adj" fmla="val 50000"/>
            </a:avLst>
          </a:prstGeom>
          <a:solidFill>
            <a:srgbClr val="4EDEA3">
              <a:alpha val="13333"/>
            </a:srgbClr>
          </a:solidFill>
          <a:ln w="9525">
            <a:solidFill>
              <a:srgbClr val="4EDEA3">
                <a:alpha val="40000"/>
              </a:srgbClr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407F8D7-6ECE-4E6D-B895-9C9EA450317D}"/>
              </a:ext>
            </a:extLst>
          </p:cNvPr>
          <p:cNvSpPr>
            <a:spLocks noGrp="1"/>
          </p:cNvSpPr>
          <p:nvPr/>
        </p:nvSpPr>
        <p:spPr>
          <a:xfrm>
            <a:off x="971550" y="4095750"/>
            <a:ext cx="15811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4EDEA3"/>
                </a:solidFill>
              </a:defRPr>
            </a:pPr>
            <a:r>
              <a:rPr sz="1275" b="1">
                <a:solidFill>
                  <a:srgbClr val="4EDEA3"/>
                </a:solidFill>
              </a:rPr>
              <a:t>Game economy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9275BE0-2790-4C8D-ADC2-73ABDC001A4F}"/>
              </a:ext>
            </a:extLst>
          </p:cNvPr>
          <p:cNvSpPr>
            <a:spLocks noGrp="1"/>
          </p:cNvSpPr>
          <p:nvPr/>
        </p:nvSpPr>
        <p:spPr>
          <a:xfrm>
            <a:off x="838199" y="4552950"/>
            <a:ext cx="7332345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500" b="1">
                <a:solidFill>
                  <a:srgbClr val="DAE2FD"/>
                </a:solidFill>
              </a:defRPr>
            </a:pPr>
            <a:r>
              <a:rPr lang="ru-RU" sz="4500" b="1" dirty="0">
                <a:solidFill>
                  <a:srgbClr val="DAE2FD"/>
                </a:solidFill>
              </a:rPr>
              <a:t>Победы обретают ценность</a:t>
            </a:r>
            <a:endParaRPr sz="4500" b="1" dirty="0">
              <a:solidFill>
                <a:srgbClr val="DAE2FD"/>
              </a:solidFill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A1A6EF5-28CA-4910-AB10-ACD631C9DF72}"/>
              </a:ext>
            </a:extLst>
          </p:cNvPr>
          <p:cNvSpPr>
            <a:spLocks noGrp="1"/>
          </p:cNvSpPr>
          <p:nvPr/>
        </p:nvSpPr>
        <p:spPr>
          <a:xfrm>
            <a:off x="838200" y="5372100"/>
            <a:ext cx="6667500" cy="8953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>
                <a:solidFill>
                  <a:srgbClr val="CBC3D7"/>
                </a:solidFill>
              </a:defRPr>
            </a:pPr>
            <a:r>
              <a:rPr lang="ru-RU" sz="1950" dirty="0">
                <a:solidFill>
                  <a:srgbClr val="CBC3D7"/>
                </a:solidFill>
              </a:rPr>
              <a:t>Первое место в квизе позволяет заработать 3 очка, второе – 2, третье – 1 очко, каждый эмодзи или реакция стоят 10 очков</a:t>
            </a:r>
            <a:endParaRPr sz="1950" dirty="0">
              <a:solidFill>
                <a:srgbClr val="CBC3D7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818722D-6772-4ED2-81C5-863B46BE98FA}"/>
              </a:ext>
            </a:extLst>
          </p:cNvPr>
          <p:cNvSpPr>
            <a:spLocks noGrp="1"/>
          </p:cNvSpPr>
          <p:nvPr/>
        </p:nvSpPr>
        <p:spPr>
          <a:xfrm>
            <a:off x="9008745" y="2209800"/>
            <a:ext cx="8441055" cy="3905250"/>
          </a:xfrm>
          <a:prstGeom prst="roundRect">
            <a:avLst>
              <a:gd name="adj" fmla="val 5366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981C858-1777-444A-9529-3AAC015EE8B5}"/>
              </a:ext>
            </a:extLst>
          </p:cNvPr>
          <p:cNvSpPr>
            <a:spLocks noGrp="1"/>
          </p:cNvSpPr>
          <p:nvPr/>
        </p:nvSpPr>
        <p:spPr>
          <a:xfrm>
            <a:off x="9277350" y="2476500"/>
            <a:ext cx="79057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4EDEA3"/>
                </a:solidFill>
              </a:defRPr>
            </a:pPr>
            <a:r>
              <a:rPr lang="ru-RU" sz="1650" b="1" dirty="0">
                <a:solidFill>
                  <a:srgbClr val="4EDEA3"/>
                </a:solidFill>
              </a:rPr>
              <a:t>Очки за различные места в квизе</a:t>
            </a:r>
            <a:endParaRPr sz="1650" b="1" dirty="0">
              <a:solidFill>
                <a:srgbClr val="4EDEA3"/>
              </a:solidFill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0261045-FA3A-4B71-961C-414177195F68}"/>
              </a:ext>
            </a:extLst>
          </p:cNvPr>
          <p:cNvSpPr>
            <a:spLocks noGrp="1"/>
          </p:cNvSpPr>
          <p:nvPr/>
        </p:nvSpPr>
        <p:spPr>
          <a:xfrm>
            <a:off x="9277350" y="3181350"/>
            <a:ext cx="247650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400" b="1">
                <a:solidFill>
                  <a:srgbClr val="DAE2FD"/>
                </a:solidFill>
              </a:defRPr>
            </a:pPr>
            <a:r>
              <a:rPr sz="2400" b="1">
                <a:solidFill>
                  <a:srgbClr val="DAE2FD"/>
                </a:solidFill>
              </a:rPr>
              <a:t>3 VP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30044AFE-812E-4425-81B2-7148637D8573}"/>
              </a:ext>
            </a:extLst>
          </p:cNvPr>
          <p:cNvSpPr>
            <a:spLocks noGrp="1"/>
          </p:cNvSpPr>
          <p:nvPr/>
        </p:nvSpPr>
        <p:spPr>
          <a:xfrm>
            <a:off x="10172700" y="3688080"/>
            <a:ext cx="685800" cy="1809750"/>
          </a:xfrm>
          <a:prstGeom prst="roundRect">
            <a:avLst>
              <a:gd name="adj" fmla="val 22222"/>
            </a:avLst>
          </a:prstGeom>
          <a:solidFill>
            <a:srgbClr val="4EDEA3"/>
          </a:solidFill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962E7A7-5E54-4DE8-A7B2-6A9A819D8950}"/>
              </a:ext>
            </a:extLst>
          </p:cNvPr>
          <p:cNvSpPr>
            <a:spLocks noGrp="1"/>
          </p:cNvSpPr>
          <p:nvPr/>
        </p:nvSpPr>
        <p:spPr>
          <a:xfrm>
            <a:off x="9277350" y="5638800"/>
            <a:ext cx="24765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CBC3D7"/>
                </a:solidFill>
              </a:defRPr>
            </a:pPr>
            <a:r>
              <a:rPr sz="1425">
                <a:solidFill>
                  <a:srgbClr val="CBC3D7"/>
                </a:solidFill>
              </a:rPr>
              <a:t>1st place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FAF7C60-0A6D-490F-8DB9-173B2A596194}"/>
              </a:ext>
            </a:extLst>
          </p:cNvPr>
          <p:cNvSpPr>
            <a:spLocks noGrp="1"/>
          </p:cNvSpPr>
          <p:nvPr/>
        </p:nvSpPr>
        <p:spPr>
          <a:xfrm>
            <a:off x="11982450" y="3771900"/>
            <a:ext cx="247650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400" b="1">
                <a:solidFill>
                  <a:srgbClr val="DAE2FD"/>
                </a:solidFill>
              </a:defRPr>
            </a:pPr>
            <a:r>
              <a:rPr sz="2400" b="1">
                <a:solidFill>
                  <a:srgbClr val="DAE2FD"/>
                </a:solidFill>
              </a:rPr>
              <a:t>2 VP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74AB3C45-6415-45DB-9E05-FC3810CA49DC}"/>
              </a:ext>
            </a:extLst>
          </p:cNvPr>
          <p:cNvSpPr>
            <a:spLocks noGrp="1"/>
          </p:cNvSpPr>
          <p:nvPr/>
        </p:nvSpPr>
        <p:spPr>
          <a:xfrm>
            <a:off x="12877800" y="4278630"/>
            <a:ext cx="685800" cy="1219200"/>
          </a:xfrm>
          <a:prstGeom prst="roundRect">
            <a:avLst>
              <a:gd name="adj" fmla="val 22222"/>
            </a:avLst>
          </a:prstGeom>
          <a:solidFill>
            <a:srgbClr val="89CEFF"/>
          </a:solidFill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8E7D175-B6FD-4588-B3B7-612918FD1A9E}"/>
              </a:ext>
            </a:extLst>
          </p:cNvPr>
          <p:cNvSpPr>
            <a:spLocks noGrp="1"/>
          </p:cNvSpPr>
          <p:nvPr/>
        </p:nvSpPr>
        <p:spPr>
          <a:xfrm>
            <a:off x="11982450" y="5638800"/>
            <a:ext cx="24765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CBC3D7"/>
                </a:solidFill>
              </a:defRPr>
            </a:pPr>
            <a:r>
              <a:rPr sz="1425">
                <a:solidFill>
                  <a:srgbClr val="CBC3D7"/>
                </a:solidFill>
              </a:rPr>
              <a:t>2nd place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44955EA-F870-4AF5-BAE7-E718298DEBC5}"/>
              </a:ext>
            </a:extLst>
          </p:cNvPr>
          <p:cNvSpPr>
            <a:spLocks noGrp="1"/>
          </p:cNvSpPr>
          <p:nvPr/>
        </p:nvSpPr>
        <p:spPr>
          <a:xfrm>
            <a:off x="14706600" y="4343400"/>
            <a:ext cx="247650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400" b="1">
                <a:solidFill>
                  <a:srgbClr val="DAE2FD"/>
                </a:solidFill>
              </a:defRPr>
            </a:pPr>
            <a:r>
              <a:rPr sz="2400" b="1">
                <a:solidFill>
                  <a:srgbClr val="DAE2FD"/>
                </a:solidFill>
              </a:rPr>
              <a:t>1 VP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8591EC6-6AB6-42F2-B220-D124B5F26E9F}"/>
              </a:ext>
            </a:extLst>
          </p:cNvPr>
          <p:cNvSpPr>
            <a:spLocks noGrp="1"/>
          </p:cNvSpPr>
          <p:nvPr/>
        </p:nvSpPr>
        <p:spPr>
          <a:xfrm>
            <a:off x="15601950" y="4850130"/>
            <a:ext cx="685800" cy="647700"/>
          </a:xfrm>
          <a:prstGeom prst="roundRect">
            <a:avLst>
              <a:gd name="adj" fmla="val 23529"/>
            </a:avLst>
          </a:prstGeom>
          <a:solidFill>
            <a:srgbClr val="D0BCFF"/>
          </a:solidFill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7C82CF-A09D-4BBE-BEB0-0CEE136F982B}"/>
              </a:ext>
            </a:extLst>
          </p:cNvPr>
          <p:cNvSpPr>
            <a:spLocks noGrp="1"/>
          </p:cNvSpPr>
          <p:nvPr/>
        </p:nvSpPr>
        <p:spPr>
          <a:xfrm>
            <a:off x="14706600" y="5638800"/>
            <a:ext cx="24765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CBC3D7"/>
                </a:solidFill>
              </a:defRPr>
            </a:pPr>
            <a:r>
              <a:rPr sz="1425">
                <a:solidFill>
                  <a:srgbClr val="CBC3D7"/>
                </a:solidFill>
              </a:rPr>
              <a:t>3rd place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8C01ED85-0386-4679-867D-A6F0466D7914}"/>
              </a:ext>
            </a:extLst>
          </p:cNvPr>
          <p:cNvSpPr>
            <a:spLocks noGrp="1"/>
          </p:cNvSpPr>
          <p:nvPr/>
        </p:nvSpPr>
        <p:spPr>
          <a:xfrm>
            <a:off x="9008745" y="6362700"/>
            <a:ext cx="4125278" cy="1714500"/>
          </a:xfrm>
          <a:prstGeom prst="roundRect">
            <a:avLst>
              <a:gd name="adj" fmla="val 10000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6BF34116-96B3-41BC-B7F2-366C4CA3373C}"/>
              </a:ext>
            </a:extLst>
          </p:cNvPr>
          <p:cNvSpPr>
            <a:spLocks noGrp="1"/>
          </p:cNvSpPr>
          <p:nvPr/>
        </p:nvSpPr>
        <p:spPr>
          <a:xfrm>
            <a:off x="9201150" y="6724650"/>
            <a:ext cx="375285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DAE2FD"/>
                </a:solidFill>
              </a:defRPr>
            </a:pPr>
            <a:r>
              <a:rPr sz="2550" b="1">
                <a:solidFill>
                  <a:srgbClr val="DAE2FD"/>
                </a:solidFill>
              </a:rPr>
              <a:t>10 VP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7B62C97-09CD-4C6C-BCC0-56717486CFD8}"/>
              </a:ext>
            </a:extLst>
          </p:cNvPr>
          <p:cNvSpPr>
            <a:spLocks noGrp="1"/>
          </p:cNvSpPr>
          <p:nvPr/>
        </p:nvSpPr>
        <p:spPr>
          <a:xfrm>
            <a:off x="9201150" y="7181850"/>
            <a:ext cx="37528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D0BCFF"/>
                </a:solidFill>
              </a:defRPr>
            </a:pPr>
            <a:r>
              <a:rPr lang="ru-RU" sz="1650" b="1" dirty="0">
                <a:solidFill>
                  <a:srgbClr val="D0BCFF"/>
                </a:solidFill>
              </a:rPr>
              <a:t>Стоимость эмодзи</a:t>
            </a:r>
            <a:endParaRPr sz="1650" b="1" dirty="0">
              <a:solidFill>
                <a:srgbClr val="D0BCFF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3F6D835-1826-4595-8353-69F716FAF4D9}"/>
              </a:ext>
            </a:extLst>
          </p:cNvPr>
          <p:cNvSpPr>
            <a:spLocks noGrp="1"/>
          </p:cNvSpPr>
          <p:nvPr/>
        </p:nvSpPr>
        <p:spPr>
          <a:xfrm>
            <a:off x="9201150" y="7505700"/>
            <a:ext cx="3752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>
                <a:solidFill>
                  <a:srgbClr val="958EA0"/>
                </a:solidFill>
              </a:defRPr>
            </a:pPr>
            <a:r>
              <a:rPr lang="ru-RU" sz="1350" dirty="0">
                <a:solidFill>
                  <a:srgbClr val="958EA0"/>
                </a:solidFill>
              </a:rPr>
              <a:t>Отображаются около имени игрока</a:t>
            </a:r>
            <a:endParaRPr sz="1350" dirty="0">
              <a:solidFill>
                <a:srgbClr val="958EA0"/>
              </a:solidFill>
            </a:endParaRPr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9BD88122-B270-4711-A13D-958EB953BBB7}"/>
              </a:ext>
            </a:extLst>
          </p:cNvPr>
          <p:cNvSpPr>
            <a:spLocks noGrp="1"/>
          </p:cNvSpPr>
          <p:nvPr/>
        </p:nvSpPr>
        <p:spPr>
          <a:xfrm>
            <a:off x="13324523" y="6362700"/>
            <a:ext cx="4125278" cy="1714500"/>
          </a:xfrm>
          <a:prstGeom prst="roundRect">
            <a:avLst>
              <a:gd name="adj" fmla="val 10000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998A346-30B1-467E-9DC8-5E60A25FA30B}"/>
              </a:ext>
            </a:extLst>
          </p:cNvPr>
          <p:cNvSpPr>
            <a:spLocks noGrp="1"/>
          </p:cNvSpPr>
          <p:nvPr/>
        </p:nvSpPr>
        <p:spPr>
          <a:xfrm>
            <a:off x="13506450" y="6724650"/>
            <a:ext cx="375285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DAE2FD"/>
                </a:solidFill>
              </a:defRPr>
            </a:pPr>
            <a:r>
              <a:rPr sz="2550" b="1">
                <a:solidFill>
                  <a:srgbClr val="DAE2FD"/>
                </a:solidFill>
              </a:rPr>
              <a:t>10 VP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4F6332BA-FAC2-499C-B72A-F83EB20D72C7}"/>
              </a:ext>
            </a:extLst>
          </p:cNvPr>
          <p:cNvSpPr>
            <a:spLocks noGrp="1"/>
          </p:cNvSpPr>
          <p:nvPr/>
        </p:nvSpPr>
        <p:spPr>
          <a:xfrm>
            <a:off x="13506450" y="7181850"/>
            <a:ext cx="37528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D0BCFF"/>
                </a:solidFill>
              </a:defRPr>
            </a:pPr>
            <a:r>
              <a:rPr lang="ru-RU" sz="1650" b="1" dirty="0">
                <a:solidFill>
                  <a:srgbClr val="D0BCFF"/>
                </a:solidFill>
              </a:rPr>
              <a:t>Стоимость живых реакций</a:t>
            </a:r>
            <a:endParaRPr sz="1650" b="1" dirty="0">
              <a:solidFill>
                <a:srgbClr val="D0BCFF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56CB4B1-9F85-4D65-805E-0F2C56418819}"/>
              </a:ext>
            </a:extLst>
          </p:cNvPr>
          <p:cNvSpPr>
            <a:spLocks noGrp="1"/>
          </p:cNvSpPr>
          <p:nvPr/>
        </p:nvSpPr>
        <p:spPr>
          <a:xfrm>
            <a:off x="13506450" y="7505700"/>
            <a:ext cx="3752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>
                <a:solidFill>
                  <a:srgbClr val="958EA0"/>
                </a:solidFill>
              </a:defRPr>
            </a:pPr>
            <a:r>
              <a:rPr lang="ru-RU" sz="1350" dirty="0">
                <a:solidFill>
                  <a:srgbClr val="958EA0"/>
                </a:solidFill>
              </a:rPr>
              <a:t>Видны всем в комнате</a:t>
            </a:r>
            <a:endParaRPr sz="1350" dirty="0">
              <a:solidFill>
                <a:srgbClr val="958E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8655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4DC25D7-6D6A-4D04-A5EC-1298AEBB434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326"/>
          </a:solidFill>
        </p:spPr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7C090B82-06BF-48EB-82A2-3304F2B306F2}"/>
              </a:ext>
            </a:extLst>
          </p:cNvPr>
          <p:cNvSpPr>
            <a:spLocks noGrp="1"/>
          </p:cNvSpPr>
          <p:nvPr/>
        </p:nvSpPr>
        <p:spPr>
          <a:xfrm>
            <a:off x="838200" y="1181100"/>
            <a:ext cx="1352550" cy="400050"/>
          </a:xfrm>
          <a:prstGeom prst="roundRect">
            <a:avLst>
              <a:gd name="adj" fmla="val 50000"/>
            </a:avLst>
          </a:prstGeom>
          <a:solidFill>
            <a:srgbClr val="89CEFF">
              <a:alpha val="13333"/>
            </a:srgbClr>
          </a:solidFill>
          <a:ln w="9525">
            <a:solidFill>
              <a:srgbClr val="89CEFF">
                <a:alpha val="40000"/>
              </a:srgbClr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77D80ED-1247-4DA1-A8D3-AE4727B488F9}"/>
              </a:ext>
            </a:extLst>
          </p:cNvPr>
          <p:cNvSpPr>
            <a:spLocks noGrp="1"/>
          </p:cNvSpPr>
          <p:nvPr/>
        </p:nvSpPr>
        <p:spPr>
          <a:xfrm>
            <a:off x="971550" y="1257300"/>
            <a:ext cx="108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 b="1">
                <a:solidFill>
                  <a:srgbClr val="89CEFF"/>
                </a:solidFill>
              </a:defRPr>
            </a:pPr>
            <a:r>
              <a:rPr sz="1275" b="1">
                <a:solidFill>
                  <a:srgbClr val="89CEFF"/>
                </a:solidFill>
              </a:rPr>
              <a:t>Delivery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DE2ACDA-B809-4711-AB5B-CAA34927E030}"/>
              </a:ext>
            </a:extLst>
          </p:cNvPr>
          <p:cNvSpPr>
            <a:spLocks noGrp="1"/>
          </p:cNvSpPr>
          <p:nvPr/>
        </p:nvSpPr>
        <p:spPr>
          <a:xfrm>
            <a:off x="838200" y="1905000"/>
            <a:ext cx="10382250" cy="1524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950" b="1">
                <a:solidFill>
                  <a:srgbClr val="DAE2FD"/>
                </a:solidFill>
              </a:defRPr>
            </a:pPr>
            <a:r>
              <a:rPr lang="ru-RU" sz="4950" b="1" dirty="0">
                <a:solidFill>
                  <a:srgbClr val="DAE2FD"/>
                </a:solidFill>
              </a:rPr>
              <a:t>Прототип готов и доступен в публичном репозитории</a:t>
            </a:r>
            <a:endParaRPr sz="4950" b="1" dirty="0">
              <a:solidFill>
                <a:srgbClr val="DAE2FD"/>
              </a:solidFill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920659A7-17EE-4C2A-BBF5-4A3B5787C0C8}"/>
              </a:ext>
            </a:extLst>
          </p:cNvPr>
          <p:cNvSpPr>
            <a:spLocks noGrp="1"/>
          </p:cNvSpPr>
          <p:nvPr/>
        </p:nvSpPr>
        <p:spPr>
          <a:xfrm>
            <a:off x="838200" y="3737610"/>
            <a:ext cx="8162925" cy="3714750"/>
          </a:xfrm>
          <a:prstGeom prst="roundRect">
            <a:avLst>
              <a:gd name="adj" fmla="val 6154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A3C96DF-DB99-4CD0-AD52-15A7921B402D}"/>
              </a:ext>
            </a:extLst>
          </p:cNvPr>
          <p:cNvSpPr>
            <a:spLocks noGrp="1"/>
          </p:cNvSpPr>
          <p:nvPr/>
        </p:nvSpPr>
        <p:spPr>
          <a:xfrm>
            <a:off x="1143000" y="4933950"/>
            <a:ext cx="7562850" cy="457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>
                <a:solidFill>
                  <a:srgbClr val="DAE2FD"/>
                </a:solidFill>
              </a:defRPr>
            </a:pPr>
            <a:r>
              <a:rPr lang="ru-RU" sz="3000" b="1" dirty="0">
                <a:solidFill>
                  <a:srgbClr val="DAE2FD"/>
                </a:solidFill>
              </a:rPr>
              <a:t>Репозиторий</a:t>
            </a:r>
            <a:endParaRPr sz="3000" b="1" dirty="0">
              <a:solidFill>
                <a:srgbClr val="DAE2FD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6C53DAC-054C-4BC8-9F56-C5B7A19094F8}"/>
              </a:ext>
            </a:extLst>
          </p:cNvPr>
          <p:cNvSpPr>
            <a:spLocks noGrp="1"/>
          </p:cNvSpPr>
          <p:nvPr/>
        </p:nvSpPr>
        <p:spPr>
          <a:xfrm>
            <a:off x="1143000" y="5581650"/>
            <a:ext cx="75628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CBC3D7"/>
                </a:solidFill>
              </a:defRPr>
            </a:pPr>
            <a:r>
              <a:rPr lang="ru-RU" sz="1800" dirty="0">
                <a:solidFill>
                  <a:srgbClr val="CBC3D7"/>
                </a:solidFill>
              </a:rPr>
              <a:t>Исходный код</a:t>
            </a:r>
            <a:r>
              <a:rPr sz="1800" dirty="0">
                <a:solidFill>
                  <a:srgbClr val="CBC3D7"/>
                </a:solidFill>
              </a:rPr>
              <a:t>, README, </a:t>
            </a:r>
            <a:r>
              <a:rPr lang="ru-RU" sz="1800" dirty="0">
                <a:solidFill>
                  <a:srgbClr val="CBC3D7"/>
                </a:solidFill>
              </a:rPr>
              <a:t>модель БД</a:t>
            </a:r>
            <a:r>
              <a:rPr sz="1800" dirty="0">
                <a:solidFill>
                  <a:srgbClr val="CBC3D7"/>
                </a:solidFill>
              </a:rPr>
              <a:t>, </a:t>
            </a:r>
            <a:r>
              <a:rPr lang="ru-RU" sz="1800" dirty="0">
                <a:solidFill>
                  <a:srgbClr val="CBC3D7"/>
                </a:solidFill>
              </a:rPr>
              <a:t>тесты</a:t>
            </a:r>
            <a:r>
              <a:rPr lang="ru-RU" dirty="0">
                <a:solidFill>
                  <a:srgbClr val="CBC3D7"/>
                </a:solidFill>
              </a:rPr>
              <a:t> и эта презентация</a:t>
            </a:r>
            <a:endParaRPr sz="1800" dirty="0">
              <a:solidFill>
                <a:srgbClr val="CBC3D7"/>
              </a:solidFill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7E467D7-F534-449A-98A6-A7BDF7287CD4}"/>
              </a:ext>
            </a:extLst>
          </p:cNvPr>
          <p:cNvSpPr>
            <a:spLocks noGrp="1"/>
          </p:cNvSpPr>
          <p:nvPr/>
        </p:nvSpPr>
        <p:spPr>
          <a:xfrm>
            <a:off x="1143000" y="6057900"/>
            <a:ext cx="7562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>
                <a:solidFill>
                  <a:srgbClr val="89CEFF"/>
                </a:solidFill>
              </a:defRPr>
            </a:pPr>
            <a:r>
              <a:rPr sz="1350">
                <a:solidFill>
                  <a:srgbClr val="89CEFF"/>
                </a:solidFill>
              </a:rPr>
              <a:t>https://github.com/avkhnychenko/quizflow-mvp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F681542-C761-40F5-ADCE-5C0039775D4F}"/>
              </a:ext>
            </a:extLst>
          </p:cNvPr>
          <p:cNvSpPr>
            <a:spLocks noGrp="1"/>
          </p:cNvSpPr>
          <p:nvPr/>
        </p:nvSpPr>
        <p:spPr>
          <a:xfrm>
            <a:off x="9286875" y="3737610"/>
            <a:ext cx="8162925" cy="3714750"/>
          </a:xfrm>
          <a:prstGeom prst="roundRect">
            <a:avLst>
              <a:gd name="adj" fmla="val 6154"/>
            </a:avLst>
          </a:prstGeom>
          <a:solidFill>
            <a:srgbClr val="171F33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AC25E30-AC0B-44BA-955B-321E9067CDC0}"/>
              </a:ext>
            </a:extLst>
          </p:cNvPr>
          <p:cNvSpPr>
            <a:spLocks noGrp="1"/>
          </p:cNvSpPr>
          <p:nvPr/>
        </p:nvSpPr>
        <p:spPr>
          <a:xfrm>
            <a:off x="9601200" y="4838700"/>
            <a:ext cx="7562850" cy="457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>
                <a:solidFill>
                  <a:srgbClr val="DAE2FD"/>
                </a:solidFill>
              </a:defRPr>
            </a:pPr>
            <a:r>
              <a:rPr sz="3000" b="1">
                <a:solidFill>
                  <a:srgbClr val="DAE2FD"/>
                </a:solidFill>
              </a:rPr>
              <a:t>Figma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43CBD90-8B9B-4974-A9F1-59BCB746C8A5}"/>
              </a:ext>
            </a:extLst>
          </p:cNvPr>
          <p:cNvSpPr>
            <a:spLocks noGrp="1"/>
          </p:cNvSpPr>
          <p:nvPr/>
        </p:nvSpPr>
        <p:spPr>
          <a:xfrm>
            <a:off x="9601200" y="5486400"/>
            <a:ext cx="75628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CBC3D7"/>
                </a:solidFill>
              </a:defRPr>
            </a:pPr>
            <a:r>
              <a:rPr lang="ru-RU" sz="1800" dirty="0">
                <a:solidFill>
                  <a:srgbClr val="CBC3D7"/>
                </a:solidFill>
              </a:rPr>
              <a:t>Оригинальный макет дизайна</a:t>
            </a:r>
            <a:endParaRPr sz="1800" dirty="0">
              <a:solidFill>
                <a:srgbClr val="CBC3D7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80867AD6-C1B2-4D20-A566-67909A6ACB33}"/>
              </a:ext>
            </a:extLst>
          </p:cNvPr>
          <p:cNvSpPr>
            <a:spLocks noGrp="1"/>
          </p:cNvSpPr>
          <p:nvPr/>
        </p:nvSpPr>
        <p:spPr>
          <a:xfrm>
            <a:off x="9601200" y="5943600"/>
            <a:ext cx="7562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>
                <a:solidFill>
                  <a:srgbClr val="89CEFF"/>
                </a:solidFill>
              </a:defRPr>
            </a:pPr>
            <a:r>
              <a:rPr sz="1350">
                <a:solidFill>
                  <a:srgbClr val="89CEFF"/>
                </a:solidFill>
              </a:rPr>
              <a:t>https://www.figma.com/design/Iir67uZiOFG9fOjQ5tzS4y/Untitled?node-id=0-1&amp;p=f&amp;t=gj5FxMSEWYS14AJv-0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00E7E9B5-E50C-41B2-B1B8-2C272D8495A0}"/>
              </a:ext>
            </a:extLst>
          </p:cNvPr>
          <p:cNvSpPr>
            <a:spLocks noGrp="1"/>
          </p:cNvSpPr>
          <p:nvPr/>
        </p:nvSpPr>
        <p:spPr>
          <a:xfrm>
            <a:off x="838200" y="7776210"/>
            <a:ext cx="16611600" cy="1329690"/>
          </a:xfrm>
          <a:prstGeom prst="roundRect">
            <a:avLst>
              <a:gd name="adj" fmla="val 14327"/>
            </a:avLst>
          </a:prstGeom>
          <a:solidFill>
            <a:srgbClr val="060E20"/>
          </a:solidFill>
          <a:ln w="9525">
            <a:solidFill>
              <a:srgbClr val="2D3449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0F54342-3568-4780-ADD2-CF03DAF49FC4}"/>
              </a:ext>
            </a:extLst>
          </p:cNvPr>
          <p:cNvSpPr>
            <a:spLocks noGrp="1"/>
          </p:cNvSpPr>
          <p:nvPr/>
        </p:nvSpPr>
        <p:spPr>
          <a:xfrm>
            <a:off x="1104900" y="7981950"/>
            <a:ext cx="160782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4EDEA3"/>
                </a:solidFill>
              </a:defRPr>
            </a:pPr>
            <a:r>
              <a:rPr lang="ru-RU" sz="1500" b="1" dirty="0">
                <a:solidFill>
                  <a:srgbClr val="4EDEA3"/>
                </a:solidFill>
              </a:rPr>
              <a:t>Запустить локально</a:t>
            </a:r>
            <a:endParaRPr sz="1500" b="1" dirty="0">
              <a:solidFill>
                <a:srgbClr val="4EDEA3"/>
              </a:solidFill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4753CEB-B99A-426F-9418-84BA9B6F5902}"/>
              </a:ext>
            </a:extLst>
          </p:cNvPr>
          <p:cNvSpPr>
            <a:spLocks noGrp="1"/>
          </p:cNvSpPr>
          <p:nvPr/>
        </p:nvSpPr>
        <p:spPr>
          <a:xfrm>
            <a:off x="1104900" y="8305800"/>
            <a:ext cx="16078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>
                <a:solidFill>
                  <a:srgbClr val="DAE2FD"/>
                </a:solidFill>
              </a:defRPr>
            </a:pPr>
            <a:r>
              <a:rPr sz="1875">
                <a:solidFill>
                  <a:srgbClr val="DAE2FD"/>
                </a:solidFill>
              </a:rPr>
              <a:t>npm install -&gt; npm run build -&gt; npm start -&gt; http://localhost:3001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7ACC8581-927C-4A6B-846F-27D04D3BAA10}"/>
              </a:ext>
            </a:extLst>
          </p:cNvPr>
          <p:cNvSpPr>
            <a:spLocks noGrp="1"/>
          </p:cNvSpPr>
          <p:nvPr/>
        </p:nvSpPr>
        <p:spPr>
          <a:xfrm>
            <a:off x="1104900" y="8686800"/>
            <a:ext cx="160782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>
                <a:solidFill>
                  <a:srgbClr val="958EA0"/>
                </a:solidFill>
              </a:defRPr>
            </a:pPr>
            <a:endParaRPr sz="1350" dirty="0">
              <a:solidFill>
                <a:srgbClr val="958E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088353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358</Words>
  <Application>Microsoft Office PowerPoint</Application>
  <DocSecurity>0</DocSecurity>
  <PresentationFormat>Произвольный</PresentationFormat>
  <Paragraphs>75</Paragraphs>
  <Slides>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7" baseType="lpstr">
      <vt:lpstr>Calibri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User</cp:lastModifiedBy>
  <cp:revision>1</cp:revision>
  <dcterms:created xsi:type="dcterms:W3CDTF">2026-04-28T19:41:51Z</dcterms:created>
  <dcterms:modified xsi:type="dcterms:W3CDTF">2026-04-28T20:03:00Z</dcterms:modified>
</cp:coreProperties>
</file>